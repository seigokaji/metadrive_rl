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0972800" cy="8229600" type="B4JIS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728" autoAdjust="0"/>
  </p:normalViewPr>
  <p:slideViewPr>
    <p:cSldViewPr snapToGrid="0" snapToObjects="1">
      <p:cViewPr varScale="1">
        <p:scale>
          <a:sx n="83" d="100"/>
          <a:sy n="83" d="100"/>
        </p:scale>
        <p:origin x="43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2925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固定経路の接続と累積距離</a:t>
            </a:r>
          </a:p>
          <a:p>
            <a:r>
              <a:t>元の SVG: lookahead_path.svg</a:t>
            </a:r>
          </a:p>
          <a:p>
            <a:r>
              <a:t>文字はテキストボックス、線・円弧・矢印は編集可能な図形です。下付き文字は文字書式として設定しています。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車体基準点の投影と候補の競合</a:t>
            </a:r>
          </a:p>
          <a:p>
            <a:r>
              <a:t>元の SVG: lookahead_projection.svg</a:t>
            </a:r>
          </a:p>
          <a:p>
            <a:r>
              <a:t>文字はテキストボックス、線・円弧・矢印は編集可能な図形です。下付き文字は文字書式として設定しています。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経路に沿った注視距離と終端の判定</a:t>
            </a:r>
            <a:endParaRPr dirty="0"/>
          </a:p>
          <a:p>
            <a:r>
              <a:rPr dirty="0" err="1"/>
              <a:t>元の</a:t>
            </a:r>
            <a:r>
              <a:rPr dirty="0"/>
              <a:t> SVG: </a:t>
            </a:r>
            <a:r>
              <a:rPr dirty="0" err="1"/>
              <a:t>lookahead_goal.svg</a:t>
            </a:r>
            <a:endParaRPr dirty="0"/>
          </a:p>
          <a:p>
            <a:r>
              <a:rPr dirty="0" err="1"/>
              <a:t>文字はテキストボックス、線・円弧・矢印は編集可能な図形です。下付き文字は文字書式として設定しています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world 座標から車体座標への変換</a:t>
            </a:r>
          </a:p>
          <a:p>
            <a:r>
              <a:t>元の SVG: lookahead_coordinates.svg</a:t>
            </a:r>
          </a:p>
          <a:p>
            <a:r>
              <a:t>文字はテキストボックス、線・円弧・矢印は編集可能な図形です。下付き文字は文字書式として設定しています。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注視点を通る円の幾何</a:t>
            </a:r>
            <a:endParaRPr dirty="0"/>
          </a:p>
          <a:p>
            <a:r>
              <a:rPr dirty="0" err="1"/>
              <a:t>元の</a:t>
            </a:r>
            <a:r>
              <a:rPr dirty="0"/>
              <a:t> SVG: </a:t>
            </a:r>
            <a:r>
              <a:rPr dirty="0" err="1"/>
              <a:t>pp_geometry.svg</a:t>
            </a:r>
            <a:endParaRPr dirty="0"/>
          </a:p>
          <a:p>
            <a:r>
              <a:rPr dirty="0" err="1"/>
              <a:t>文字はテキストボックス、線・円弧・矢印は編集可能な図形です。下付き文字は文字書式として設定しています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円弧の長さと進行方向の変化から曲率を求める</a:t>
            </a:r>
          </a:p>
          <a:p>
            <a:r>
              <a:t>元の SVG: pp_curvature.svg</a:t>
            </a:r>
          </a:p>
          <a:p>
            <a:r>
              <a:t>文字はテキストボックス、線・円弧・矢印は編集可能な図形です。下付き文字は文字書式として設定しています。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二輪モデルの旋回幾何と前輪操舵角</a:t>
            </a:r>
            <a:endParaRPr dirty="0"/>
          </a:p>
          <a:p>
            <a:r>
              <a:rPr dirty="0" err="1"/>
              <a:t>元の</a:t>
            </a:r>
            <a:r>
              <a:rPr dirty="0"/>
              <a:t> SVG: </a:t>
            </a:r>
            <a:r>
              <a:rPr dirty="0" err="1"/>
              <a:t>pp_steering.svg</a:t>
            </a:r>
            <a:endParaRPr dirty="0"/>
          </a:p>
          <a:p>
            <a:r>
              <a:rPr dirty="0" err="1"/>
              <a:t>文字はテキストボックス、線・円弧・矢印は編集可能な図形です。下付き文字は文字書式として設定しています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ookahead_path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白背景" descr="スライド全面の白背景"/>
          <p:cNvSpPr/>
          <p:nvPr/>
        </p:nvSpPr>
        <p:spPr>
          <a:xfrm>
            <a:off x="0" y="0"/>
            <a:ext cx="10972800" cy="822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/>
          <a:lstStyle/>
          <a:p>
            <a:endParaRPr lang="ja-JP" altLang="en-US"/>
          </a:p>
        </p:txBody>
      </p:sp>
      <p:sp>
        <p:nvSpPr>
          <p:cNvPr id="2" name="001 文字 1.2 固定経路：Lane の中心線を進行方向につなぐ"/>
          <p:cNvSpPr txBox="1"/>
          <p:nvPr/>
        </p:nvSpPr>
        <p:spPr>
          <a:xfrm>
            <a:off x="621792" y="785025"/>
            <a:ext cx="10200785" cy="46164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2345" b="1" baseline="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1.2 固定経路：Lane の中心線を進行方向につなぐ</a:t>
            </a:r>
          </a:p>
        </p:txBody>
      </p:sp>
      <p:sp>
        <p:nvSpPr>
          <p:cNvPr id="3" name="002 文字 模式図。太線は採用した中心線、矢印は経路の進行方向。"/>
          <p:cNvSpPr txBox="1"/>
          <p:nvPr/>
        </p:nvSpPr>
        <p:spPr>
          <a:xfrm>
            <a:off x="621792" y="1225694"/>
            <a:ext cx="10200785" cy="32699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661" b="0" baseline="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模式図。太線は採用した中心線、矢印は経路の進行方向。</a:t>
            </a:r>
          </a:p>
        </p:txBody>
      </p:sp>
      <p:sp>
        <p:nvSpPr>
          <p:cNvPr id="4" name="003 説明枠"/>
          <p:cNvSpPr/>
          <p:nvPr/>
        </p:nvSpPr>
        <p:spPr>
          <a:xfrm>
            <a:off x="572153" y="1707315"/>
            <a:ext cx="9828494" cy="843861"/>
          </a:xfrm>
          <a:prstGeom prst="roundRect">
            <a:avLst>
              <a:gd name="adj" fmla="val 14705"/>
            </a:avLst>
          </a:prstGeom>
          <a:solidFill>
            <a:srgbClr val="F8FAFC"/>
          </a:solidFill>
          <a:ln w="12410" cap="flat">
            <a:solidFill>
              <a:srgbClr val="CBD5E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004 文字 reset 時の Navigation"/>
          <p:cNvSpPr txBox="1"/>
          <p:nvPr/>
        </p:nvSpPr>
        <p:spPr>
          <a:xfrm>
            <a:off x="820347" y="1811557"/>
            <a:ext cx="10002230" cy="38470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954" b="1" baseline="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reset 時の Navigation</a:t>
            </a:r>
          </a:p>
        </p:txBody>
      </p:sp>
      <p:sp>
        <p:nvSpPr>
          <p:cNvPr id="6" name="005 文字 計画順の各道路 → 開始車線番号に対応する Lane を 1 本ずつ選択"/>
          <p:cNvSpPr txBox="1"/>
          <p:nvPr/>
        </p:nvSpPr>
        <p:spPr>
          <a:xfrm>
            <a:off x="820347" y="2168833"/>
            <a:ext cx="10002230" cy="32699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661" b="0" baseline="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計画順の各道路 → 開始車線番号に対応する Lane を 1 本ずつ選択</a:t>
            </a:r>
          </a:p>
        </p:txBody>
      </p:sp>
      <p:sp>
        <p:nvSpPr>
          <p:cNvPr id="7" name="006 経路・補助線"/>
          <p:cNvSpPr/>
          <p:nvPr/>
        </p:nvSpPr>
        <p:spPr>
          <a:xfrm>
            <a:off x="1143000" y="4983480"/>
            <a:ext cx="2854234" cy="1"/>
          </a:xfrm>
          <a:custGeom>
            <a:avLst/>
            <a:gdLst/>
            <a:ahLst/>
            <a:cxnLst/>
            <a:rect l="l" t="t" r="r" b="b"/>
            <a:pathLst>
              <a:path w="2854234" h="1" fill="none" extrusionOk="0">
                <a:moveTo>
                  <a:pt x="0" y="0"/>
                </a:moveTo>
                <a:lnTo>
                  <a:pt x="2854234" y="0"/>
                </a:lnTo>
              </a:path>
            </a:pathLst>
          </a:custGeom>
          <a:noFill/>
          <a:ln w="62049" cap="rnd">
            <a:solidFill>
              <a:srgbClr val="2563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007 経路・補助線"/>
          <p:cNvSpPr/>
          <p:nvPr/>
        </p:nvSpPr>
        <p:spPr>
          <a:xfrm>
            <a:off x="2508069" y="4983480"/>
            <a:ext cx="496389" cy="1"/>
          </a:xfrm>
          <a:custGeom>
            <a:avLst/>
            <a:gdLst/>
            <a:ahLst/>
            <a:cxnLst/>
            <a:rect l="l" t="t" r="r" b="b"/>
            <a:pathLst>
              <a:path w="496389" h="1" fill="none" extrusionOk="0">
                <a:moveTo>
                  <a:pt x="0" y="0"/>
                </a:moveTo>
                <a:lnTo>
                  <a:pt x="496389" y="0"/>
                </a:lnTo>
              </a:path>
            </a:pathLst>
          </a:custGeom>
          <a:noFill/>
          <a:ln w="37229" cap="flat">
            <a:solidFill>
              <a:srgbClr val="2563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008 矢印先端"/>
          <p:cNvSpPr/>
          <p:nvPr/>
        </p:nvSpPr>
        <p:spPr>
          <a:xfrm>
            <a:off x="2803420" y="4871793"/>
            <a:ext cx="223375" cy="223375"/>
          </a:xfrm>
          <a:custGeom>
            <a:avLst/>
            <a:gdLst/>
            <a:ahLst/>
            <a:cxnLst/>
            <a:rect l="l" t="t" r="r" b="b"/>
            <a:pathLst>
              <a:path w="223375" h="223375" stroke="0" extrusionOk="0">
                <a:moveTo>
                  <a:pt x="0" y="0"/>
                </a:moveTo>
                <a:lnTo>
                  <a:pt x="223375" y="111687"/>
                </a:lnTo>
                <a:lnTo>
                  <a:pt x="0" y="223375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009 経路・補助線"/>
          <p:cNvSpPr/>
          <p:nvPr/>
        </p:nvSpPr>
        <p:spPr>
          <a:xfrm>
            <a:off x="3997234" y="3432266"/>
            <a:ext cx="1551214" cy="1551214"/>
          </a:xfrm>
          <a:custGeom>
            <a:avLst/>
            <a:gdLst/>
            <a:ahLst/>
            <a:cxnLst/>
            <a:rect l="l" t="t" r="r" b="b"/>
            <a:pathLst>
              <a:path w="1551214" h="1551214" fill="none" extrusionOk="0">
                <a:moveTo>
                  <a:pt x="0" y="1551214"/>
                </a:moveTo>
                <a:cubicBezTo>
                  <a:pt x="272275" y="1551214"/>
                  <a:pt x="539810" y="1479528"/>
                  <a:pt x="775607" y="1343391"/>
                </a:cubicBezTo>
                <a:cubicBezTo>
                  <a:pt x="1011404" y="1207254"/>
                  <a:pt x="1207254" y="1011404"/>
                  <a:pt x="1343391" y="775607"/>
                </a:cubicBezTo>
                <a:cubicBezTo>
                  <a:pt x="1479528" y="539810"/>
                  <a:pt x="1551214" y="272275"/>
                  <a:pt x="1551214" y="0"/>
                </a:cubicBezTo>
              </a:path>
            </a:pathLst>
          </a:custGeom>
          <a:noFill/>
          <a:ln w="62049" cap="rnd">
            <a:solidFill>
              <a:srgbClr val="0F766E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010 経路・補助線"/>
          <p:cNvSpPr/>
          <p:nvPr/>
        </p:nvSpPr>
        <p:spPr>
          <a:xfrm>
            <a:off x="5340586" y="3701557"/>
            <a:ext cx="184284" cy="506316"/>
          </a:xfrm>
          <a:custGeom>
            <a:avLst/>
            <a:gdLst/>
            <a:ahLst/>
            <a:cxnLst/>
            <a:rect l="l" t="t" r="r" b="b"/>
            <a:pathLst>
              <a:path w="184284" h="506316" fill="none" extrusionOk="0">
                <a:moveTo>
                  <a:pt x="0" y="506316"/>
                </a:moveTo>
                <a:cubicBezTo>
                  <a:pt x="90492" y="349589"/>
                  <a:pt x="152863" y="178227"/>
                  <a:pt x="184284" y="0"/>
                </a:cubicBezTo>
              </a:path>
            </a:pathLst>
          </a:custGeom>
          <a:noFill/>
          <a:ln w="37229" cap="flat">
            <a:solidFill>
              <a:srgbClr val="0F766E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011 矢印先端"/>
          <p:cNvSpPr/>
          <p:nvPr/>
        </p:nvSpPr>
        <p:spPr>
          <a:xfrm>
            <a:off x="5379974" y="3679558"/>
            <a:ext cx="219982" cy="239374"/>
          </a:xfrm>
          <a:custGeom>
            <a:avLst/>
            <a:gdLst/>
            <a:ahLst/>
            <a:cxnLst/>
            <a:rect l="l" t="t" r="r" b="b"/>
            <a:pathLst>
              <a:path w="219982" h="239374" stroke="0" extrusionOk="0">
                <a:moveTo>
                  <a:pt x="0" y="200591"/>
                </a:moveTo>
                <a:lnTo>
                  <a:pt x="148774" y="0"/>
                </a:lnTo>
                <a:lnTo>
                  <a:pt x="219982" y="239374"/>
                </a:lnTo>
                <a:close/>
              </a:path>
            </a:pathLst>
          </a:custGeom>
          <a:solidFill>
            <a:srgbClr val="0F766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012 経路・補助線"/>
          <p:cNvSpPr/>
          <p:nvPr/>
        </p:nvSpPr>
        <p:spPr>
          <a:xfrm>
            <a:off x="6417129" y="3432266"/>
            <a:ext cx="3226526" cy="1"/>
          </a:xfrm>
          <a:custGeom>
            <a:avLst/>
            <a:gdLst/>
            <a:ahLst/>
            <a:cxnLst/>
            <a:rect l="l" t="t" r="r" b="b"/>
            <a:pathLst>
              <a:path w="3226526" h="1" fill="none" extrusionOk="0">
                <a:moveTo>
                  <a:pt x="0" y="0"/>
                </a:moveTo>
                <a:lnTo>
                  <a:pt x="3226526" y="0"/>
                </a:lnTo>
              </a:path>
            </a:pathLst>
          </a:custGeom>
          <a:noFill/>
          <a:ln w="49639" cap="flat">
            <a:solidFill>
              <a:srgbClr val="94A3B8"/>
            </a:solidFill>
            <a:custDash>
              <a:ds d="200000" sp="175000"/>
            </a:custDash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013 経路・補助線"/>
          <p:cNvSpPr/>
          <p:nvPr/>
        </p:nvSpPr>
        <p:spPr>
          <a:xfrm>
            <a:off x="5548449" y="3432266"/>
            <a:ext cx="868680" cy="1"/>
          </a:xfrm>
          <a:custGeom>
            <a:avLst/>
            <a:gdLst/>
            <a:ahLst/>
            <a:cxnLst/>
            <a:rect l="l" t="t" r="r" b="b"/>
            <a:pathLst>
              <a:path w="868680" h="1" fill="none" extrusionOk="0">
                <a:moveTo>
                  <a:pt x="0" y="0"/>
                </a:moveTo>
                <a:lnTo>
                  <a:pt x="868680" y="0"/>
                </a:lnTo>
              </a:path>
            </a:pathLst>
          </a:custGeom>
          <a:noFill/>
          <a:ln w="18615" cap="flat">
            <a:solidFill>
              <a:srgbClr val="B91C1C"/>
            </a:solidFill>
            <a:custDash>
              <a:ds d="200000" sp="333333"/>
            </a:custDash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014 文字 区間 1"/>
          <p:cNvSpPr txBox="1"/>
          <p:nvPr/>
        </p:nvSpPr>
        <p:spPr>
          <a:xfrm>
            <a:off x="1267097" y="3747472"/>
            <a:ext cx="9555480" cy="38470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954" b="1" baseline="0" dirty="0">
                <a:solidFill>
                  <a:srgbClr val="2563EB"/>
                </a:solidFill>
                <a:latin typeface="Arial"/>
                <a:ea typeface="Yu Gothic"/>
                <a:cs typeface="Arial"/>
              </a:rPr>
              <a:t>区間 1</a:t>
            </a:r>
          </a:p>
        </p:txBody>
      </p:sp>
      <p:sp>
        <p:nvSpPr>
          <p:cNvPr id="16" name="015 文字 StraightLane（長さ ℓ1）"/>
          <p:cNvSpPr txBox="1"/>
          <p:nvPr/>
        </p:nvSpPr>
        <p:spPr>
          <a:xfrm>
            <a:off x="1267097" y="4117158"/>
            <a:ext cx="9555480" cy="32699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661" b="0" baseline="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StraightLane（長さ ℓ</a:t>
            </a:r>
            <a:r>
              <a:rPr lang="ja-JP" sz="1661" b="0" baseline="-2500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1</a:t>
            </a:r>
            <a:r>
              <a:rPr lang="ja-JP" sz="1661" b="0" baseline="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）</a:t>
            </a:r>
          </a:p>
        </p:txBody>
      </p:sp>
      <p:sp>
        <p:nvSpPr>
          <p:cNvPr id="17" name="016 文字 区間 2"/>
          <p:cNvSpPr txBox="1"/>
          <p:nvPr/>
        </p:nvSpPr>
        <p:spPr>
          <a:xfrm>
            <a:off x="3997234" y="2705056"/>
            <a:ext cx="6825343" cy="38470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954" b="1" baseline="0" dirty="0">
                <a:solidFill>
                  <a:srgbClr val="0F766E"/>
                </a:solidFill>
                <a:latin typeface="Arial"/>
                <a:ea typeface="Yu Gothic"/>
                <a:cs typeface="Arial"/>
              </a:rPr>
              <a:t>区間 2</a:t>
            </a:r>
          </a:p>
        </p:txBody>
      </p:sp>
      <p:sp>
        <p:nvSpPr>
          <p:cNvPr id="18" name="017 文字 CircularLane（長さ ℓ2）"/>
          <p:cNvSpPr txBox="1"/>
          <p:nvPr/>
        </p:nvSpPr>
        <p:spPr>
          <a:xfrm>
            <a:off x="3997234" y="3025103"/>
            <a:ext cx="6825343" cy="32699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661" b="0" baseline="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CircularLane（長さ ℓ</a:t>
            </a:r>
            <a:r>
              <a:rPr lang="ja-JP" sz="1661" b="0" baseline="-2500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2</a:t>
            </a:r>
            <a:r>
              <a:rPr lang="ja-JP" sz="1661" b="0" baseline="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）</a:t>
            </a:r>
          </a:p>
        </p:txBody>
      </p:sp>
      <p:sp>
        <p:nvSpPr>
          <p:cNvPr id="19" name="018 文字 以降の Lane（未採用）"/>
          <p:cNvSpPr txBox="1"/>
          <p:nvPr/>
        </p:nvSpPr>
        <p:spPr>
          <a:xfrm>
            <a:off x="6851469" y="2826548"/>
            <a:ext cx="3971109" cy="32699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661" b="0" baseline="0" dirty="0">
                <a:solidFill>
                  <a:srgbClr val="64748B"/>
                </a:solidFill>
                <a:latin typeface="Arial"/>
                <a:ea typeface="Yu Gothic"/>
                <a:cs typeface="Arial"/>
              </a:rPr>
              <a:t>以降の Lane（未採用）</a:t>
            </a:r>
          </a:p>
        </p:txBody>
      </p:sp>
      <p:sp>
        <p:nvSpPr>
          <p:cNvPr id="20" name="019 点"/>
          <p:cNvSpPr/>
          <p:nvPr/>
        </p:nvSpPr>
        <p:spPr>
          <a:xfrm>
            <a:off x="1080951" y="4921431"/>
            <a:ext cx="124097" cy="124097"/>
          </a:xfrm>
          <a:prstGeom prst="ellipse">
            <a:avLst/>
          </a:prstGeom>
          <a:solidFill>
            <a:srgbClr val="172B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020 点"/>
          <p:cNvSpPr/>
          <p:nvPr/>
        </p:nvSpPr>
        <p:spPr>
          <a:xfrm>
            <a:off x="3935186" y="4921431"/>
            <a:ext cx="124097" cy="124097"/>
          </a:xfrm>
          <a:prstGeom prst="ellipse">
            <a:avLst/>
          </a:prstGeom>
          <a:solidFill>
            <a:srgbClr val="172B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021 点"/>
          <p:cNvSpPr/>
          <p:nvPr/>
        </p:nvSpPr>
        <p:spPr>
          <a:xfrm>
            <a:off x="5032204" y="4467236"/>
            <a:ext cx="124097" cy="124097"/>
          </a:xfrm>
          <a:prstGeom prst="ellipse">
            <a:avLst/>
          </a:prstGeom>
          <a:solidFill>
            <a:srgbClr val="172B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022 経路・補助線"/>
          <p:cNvSpPr/>
          <p:nvPr/>
        </p:nvSpPr>
        <p:spPr>
          <a:xfrm>
            <a:off x="5176157" y="4524321"/>
            <a:ext cx="384701" cy="1"/>
          </a:xfrm>
          <a:custGeom>
            <a:avLst/>
            <a:gdLst/>
            <a:ahLst/>
            <a:cxnLst/>
            <a:rect l="l" t="t" r="r" b="b"/>
            <a:pathLst>
              <a:path w="384701" h="1" fill="none" extrusionOk="0">
                <a:moveTo>
                  <a:pt x="0" y="0"/>
                </a:moveTo>
                <a:lnTo>
                  <a:pt x="384701" y="0"/>
                </a:lnTo>
              </a:path>
            </a:pathLst>
          </a:custGeom>
          <a:noFill/>
          <a:ln w="12410" cap="flat">
            <a:solidFill>
              <a:srgbClr val="64748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023 文字 P(S)"/>
          <p:cNvSpPr txBox="1"/>
          <p:nvPr/>
        </p:nvSpPr>
        <p:spPr>
          <a:xfrm>
            <a:off x="5672546" y="4380368"/>
            <a:ext cx="5150031" cy="38470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954" b="0" baseline="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P(S)</a:t>
            </a:r>
          </a:p>
        </p:txBody>
      </p:sp>
      <p:sp>
        <p:nvSpPr>
          <p:cNvPr id="25" name="024 文字 S = 0"/>
          <p:cNvSpPr txBox="1"/>
          <p:nvPr/>
        </p:nvSpPr>
        <p:spPr>
          <a:xfrm>
            <a:off x="894806" y="5174590"/>
            <a:ext cx="9927771" cy="38470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954" b="0" baseline="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S = 0</a:t>
            </a:r>
          </a:p>
        </p:txBody>
      </p:sp>
      <p:sp>
        <p:nvSpPr>
          <p:cNvPr id="26" name="025 文字 S = ℓ1"/>
          <p:cNvSpPr txBox="1"/>
          <p:nvPr/>
        </p:nvSpPr>
        <p:spPr>
          <a:xfrm>
            <a:off x="3476026" y="5174590"/>
            <a:ext cx="7346551" cy="38470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954" b="0" baseline="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S = ℓ</a:t>
            </a:r>
            <a:r>
              <a:rPr lang="ja-JP" sz="1954" b="0" baseline="-2500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1</a:t>
            </a:r>
          </a:p>
        </p:txBody>
      </p:sp>
      <p:sp>
        <p:nvSpPr>
          <p:cNvPr id="27" name="026 経路・補助線"/>
          <p:cNvSpPr/>
          <p:nvPr/>
        </p:nvSpPr>
        <p:spPr>
          <a:xfrm>
            <a:off x="5461581" y="3345398"/>
            <a:ext cx="173736" cy="173736"/>
          </a:xfrm>
          <a:custGeom>
            <a:avLst/>
            <a:gdLst/>
            <a:ahLst/>
            <a:cxnLst/>
            <a:rect l="l" t="t" r="r" b="b"/>
            <a:pathLst>
              <a:path w="173736" h="173736" fill="none" extrusionOk="0">
                <a:moveTo>
                  <a:pt x="0" y="0"/>
                </a:moveTo>
                <a:lnTo>
                  <a:pt x="173736" y="173736"/>
                </a:lnTo>
                <a:moveTo>
                  <a:pt x="0" y="173736"/>
                </a:moveTo>
                <a:lnTo>
                  <a:pt x="173736" y="0"/>
                </a:lnTo>
              </a:path>
            </a:pathLst>
          </a:custGeom>
          <a:noFill/>
          <a:ln w="37229" cap="flat">
            <a:solidFill>
              <a:srgbClr val="B91C1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027 文字 接続不可"/>
          <p:cNvSpPr txBox="1"/>
          <p:nvPr/>
        </p:nvSpPr>
        <p:spPr>
          <a:xfrm>
            <a:off x="5709775" y="3608360"/>
            <a:ext cx="5112802" cy="32699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661" b="0" baseline="0" dirty="0">
                <a:solidFill>
                  <a:srgbClr val="B91C1C"/>
                </a:solidFill>
                <a:latin typeface="Arial"/>
                <a:ea typeface="Yu Gothic"/>
                <a:cs typeface="Arial"/>
              </a:rPr>
              <a:t>接続不可</a:t>
            </a:r>
          </a:p>
        </p:txBody>
      </p:sp>
      <p:sp>
        <p:nvSpPr>
          <p:cNvPr id="29" name="028 経路・補助線"/>
          <p:cNvSpPr/>
          <p:nvPr/>
        </p:nvSpPr>
        <p:spPr>
          <a:xfrm>
            <a:off x="6044837" y="3928654"/>
            <a:ext cx="620486" cy="248194"/>
          </a:xfrm>
          <a:custGeom>
            <a:avLst/>
            <a:gdLst/>
            <a:ahLst/>
            <a:cxnLst/>
            <a:rect l="l" t="t" r="r" b="b"/>
            <a:pathLst>
              <a:path w="620486" h="248194" fill="none" extrusionOk="0">
                <a:moveTo>
                  <a:pt x="0" y="0"/>
                </a:moveTo>
                <a:lnTo>
                  <a:pt x="620486" y="248194"/>
                </a:lnTo>
              </a:path>
            </a:pathLst>
          </a:custGeom>
          <a:noFill/>
          <a:ln w="12410" cap="flat">
            <a:solidFill>
              <a:srgbClr val="B91C1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029 文字 この例では端点の接続を検証できず、"/>
          <p:cNvSpPr txBox="1"/>
          <p:nvPr/>
        </p:nvSpPr>
        <p:spPr>
          <a:xfrm>
            <a:off x="6851469" y="4129568"/>
            <a:ext cx="3971109" cy="32699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661" b="0" baseline="0" dirty="0">
                <a:solidFill>
                  <a:srgbClr val="B91C1C"/>
                </a:solidFill>
                <a:latin typeface="Arial"/>
                <a:ea typeface="Yu Gothic"/>
                <a:cs typeface="Arial"/>
              </a:rPr>
              <a:t>この例では端点の接続を検証できず、</a:t>
            </a:r>
          </a:p>
        </p:txBody>
      </p:sp>
      <p:sp>
        <p:nvSpPr>
          <p:cNvPr id="31" name="030 文字 区間 2 の終点を Send とする。"/>
          <p:cNvSpPr txBox="1"/>
          <p:nvPr/>
        </p:nvSpPr>
        <p:spPr>
          <a:xfrm>
            <a:off x="6851469" y="4439810"/>
            <a:ext cx="3971109" cy="32699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661" b="0" baseline="0" dirty="0">
                <a:solidFill>
                  <a:srgbClr val="B91C1C"/>
                </a:solidFill>
                <a:latin typeface="Arial"/>
                <a:ea typeface="Yu Gothic"/>
                <a:cs typeface="Arial"/>
              </a:rPr>
              <a:t>区間 2 の終点を S</a:t>
            </a:r>
            <a:r>
              <a:rPr lang="ja-JP" sz="1661" b="0" baseline="-25000" dirty="0">
                <a:solidFill>
                  <a:srgbClr val="B91C1C"/>
                </a:solidFill>
                <a:latin typeface="Arial"/>
                <a:ea typeface="Yu Gothic"/>
                <a:cs typeface="Arial"/>
              </a:rPr>
              <a:t>end</a:t>
            </a:r>
            <a:r>
              <a:rPr lang="ja-JP" sz="1661" b="0" baseline="0" dirty="0">
                <a:solidFill>
                  <a:srgbClr val="B91C1C"/>
                </a:solidFill>
                <a:latin typeface="Arial"/>
                <a:ea typeface="Yu Gothic"/>
                <a:cs typeface="Arial"/>
              </a:rPr>
              <a:t> とする。</a:t>
            </a:r>
          </a:p>
        </p:txBody>
      </p:sp>
      <p:sp>
        <p:nvSpPr>
          <p:cNvPr id="32" name="031 文字 接続時は端点・接線・"/>
          <p:cNvSpPr txBox="1"/>
          <p:nvPr/>
        </p:nvSpPr>
        <p:spPr>
          <a:xfrm>
            <a:off x="6851469" y="4973428"/>
            <a:ext cx="3971109" cy="32699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661" b="0" baseline="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接続時は端点・接線・</a:t>
            </a:r>
          </a:p>
        </p:txBody>
      </p:sp>
      <p:sp>
        <p:nvSpPr>
          <p:cNvPr id="33" name="032 文字 車線数・幅の連続性を確認。"/>
          <p:cNvSpPr txBox="1"/>
          <p:nvPr/>
        </p:nvSpPr>
        <p:spPr>
          <a:xfrm>
            <a:off x="6851469" y="5283671"/>
            <a:ext cx="3971109" cy="32699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661" b="0" baseline="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車線数・幅の連続性を確認。</a:t>
            </a:r>
          </a:p>
        </p:txBody>
      </p:sp>
      <p:sp>
        <p:nvSpPr>
          <p:cNvPr id="34" name="033 説明枠"/>
          <p:cNvSpPr/>
          <p:nvPr/>
        </p:nvSpPr>
        <p:spPr>
          <a:xfrm>
            <a:off x="572153" y="5827341"/>
            <a:ext cx="9828494" cy="1464346"/>
          </a:xfrm>
          <a:prstGeom prst="roundRect">
            <a:avLst>
              <a:gd name="adj" fmla="val 8474"/>
            </a:avLst>
          </a:prstGeom>
          <a:solidFill>
            <a:srgbClr val="F8FAFC"/>
          </a:solidFill>
          <a:ln w="12410" cap="flat">
            <a:solidFill>
              <a:srgbClr val="CBD5E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034 文字 累積距離 S：各区間の長さを足す"/>
          <p:cNvSpPr txBox="1"/>
          <p:nvPr/>
        </p:nvSpPr>
        <p:spPr>
          <a:xfrm>
            <a:off x="820347" y="5943992"/>
            <a:ext cx="10002230" cy="38470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954" b="1" baseline="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累積距離 S：各区間の長さを足す</a:t>
            </a:r>
          </a:p>
        </p:txBody>
      </p:sp>
      <p:sp>
        <p:nvSpPr>
          <p:cNvPr id="36" name="035 経路・補助線"/>
          <p:cNvSpPr/>
          <p:nvPr/>
        </p:nvSpPr>
        <p:spPr>
          <a:xfrm>
            <a:off x="1143000" y="6571923"/>
            <a:ext cx="2854234" cy="1"/>
          </a:xfrm>
          <a:custGeom>
            <a:avLst/>
            <a:gdLst/>
            <a:ahLst/>
            <a:cxnLst/>
            <a:rect l="l" t="t" r="r" b="b"/>
            <a:pathLst>
              <a:path w="2854234" h="1" fill="none" extrusionOk="0">
                <a:moveTo>
                  <a:pt x="0" y="0"/>
                </a:moveTo>
                <a:lnTo>
                  <a:pt x="2854234" y="0"/>
                </a:lnTo>
              </a:path>
            </a:pathLst>
          </a:custGeom>
          <a:noFill/>
          <a:ln w="62049" cap="rnd">
            <a:solidFill>
              <a:srgbClr val="2563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036 経路・補助線"/>
          <p:cNvSpPr/>
          <p:nvPr/>
        </p:nvSpPr>
        <p:spPr>
          <a:xfrm>
            <a:off x="3997234" y="6571923"/>
            <a:ext cx="4343400" cy="1"/>
          </a:xfrm>
          <a:custGeom>
            <a:avLst/>
            <a:gdLst/>
            <a:ahLst/>
            <a:cxnLst/>
            <a:rect l="l" t="t" r="r" b="b"/>
            <a:pathLst>
              <a:path w="4343400" h="1" fill="none" extrusionOk="0">
                <a:moveTo>
                  <a:pt x="0" y="0"/>
                </a:moveTo>
                <a:lnTo>
                  <a:pt x="4343400" y="0"/>
                </a:lnTo>
              </a:path>
            </a:pathLst>
          </a:custGeom>
          <a:noFill/>
          <a:ln w="62049" cap="rnd">
            <a:solidFill>
              <a:srgbClr val="0F766E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037 経路・補助線"/>
          <p:cNvSpPr/>
          <p:nvPr/>
        </p:nvSpPr>
        <p:spPr>
          <a:xfrm>
            <a:off x="1143000" y="6497465"/>
            <a:ext cx="7197634" cy="148917"/>
          </a:xfrm>
          <a:custGeom>
            <a:avLst/>
            <a:gdLst/>
            <a:ahLst/>
            <a:cxnLst/>
            <a:rect l="l" t="t" r="r" b="b"/>
            <a:pathLst>
              <a:path w="7197634" h="148917" fill="none" extrusionOk="0">
                <a:moveTo>
                  <a:pt x="0" y="0"/>
                </a:moveTo>
                <a:lnTo>
                  <a:pt x="0" y="148917"/>
                </a:lnTo>
                <a:moveTo>
                  <a:pt x="2854234" y="0"/>
                </a:moveTo>
                <a:lnTo>
                  <a:pt x="2854234" y="148917"/>
                </a:lnTo>
                <a:moveTo>
                  <a:pt x="7197634" y="0"/>
                </a:moveTo>
                <a:lnTo>
                  <a:pt x="7197634" y="148917"/>
                </a:lnTo>
              </a:path>
            </a:pathLst>
          </a:custGeom>
          <a:noFill/>
          <a:ln w="24819" cap="flat">
            <a:solidFill>
              <a:srgbClr val="172B4D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038 文字 区間 1"/>
          <p:cNvSpPr txBox="1"/>
          <p:nvPr/>
        </p:nvSpPr>
        <p:spPr>
          <a:xfrm>
            <a:off x="2321923" y="6276448"/>
            <a:ext cx="8500654" cy="32699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661" b="0" baseline="0" dirty="0">
                <a:solidFill>
                  <a:srgbClr val="2563EB"/>
                </a:solidFill>
                <a:latin typeface="Arial"/>
                <a:ea typeface="Yu Gothic"/>
                <a:cs typeface="Arial"/>
              </a:rPr>
              <a:t>区間 1</a:t>
            </a:r>
          </a:p>
        </p:txBody>
      </p:sp>
      <p:sp>
        <p:nvSpPr>
          <p:cNvPr id="40" name="039 文字 区間 2"/>
          <p:cNvSpPr txBox="1"/>
          <p:nvPr/>
        </p:nvSpPr>
        <p:spPr>
          <a:xfrm>
            <a:off x="5734594" y="6276448"/>
            <a:ext cx="5087983" cy="32699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661" b="0" baseline="0" dirty="0">
                <a:solidFill>
                  <a:srgbClr val="0F766E"/>
                </a:solidFill>
                <a:latin typeface="Arial"/>
                <a:ea typeface="Yu Gothic"/>
                <a:cs typeface="Arial"/>
              </a:rPr>
              <a:t>区間 2</a:t>
            </a:r>
          </a:p>
        </p:txBody>
      </p:sp>
      <p:sp>
        <p:nvSpPr>
          <p:cNvPr id="41" name="040 文字 0"/>
          <p:cNvSpPr txBox="1"/>
          <p:nvPr/>
        </p:nvSpPr>
        <p:spPr>
          <a:xfrm>
            <a:off x="-1463040" y="6663755"/>
            <a:ext cx="5212080" cy="38470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954" b="0" baseline="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0</a:t>
            </a:r>
          </a:p>
        </p:txBody>
      </p:sp>
      <p:sp>
        <p:nvSpPr>
          <p:cNvPr id="42" name="041 文字 ℓ1"/>
          <p:cNvSpPr txBox="1"/>
          <p:nvPr/>
        </p:nvSpPr>
        <p:spPr>
          <a:xfrm>
            <a:off x="1391194" y="6663755"/>
            <a:ext cx="5212080" cy="38470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954" b="0" baseline="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ℓ</a:t>
            </a:r>
            <a:r>
              <a:rPr lang="ja-JP" sz="1954" b="0" baseline="-2500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1</a:t>
            </a:r>
          </a:p>
        </p:txBody>
      </p:sp>
      <p:sp>
        <p:nvSpPr>
          <p:cNvPr id="43" name="042 文字 Send = ℓ1 + ℓ2"/>
          <p:cNvSpPr txBox="1"/>
          <p:nvPr/>
        </p:nvSpPr>
        <p:spPr>
          <a:xfrm>
            <a:off x="5734594" y="6663755"/>
            <a:ext cx="5212080" cy="38470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954" b="0" baseline="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S</a:t>
            </a:r>
            <a:r>
              <a:rPr lang="ja-JP" sz="1954" b="0" baseline="-2500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end</a:t>
            </a:r>
            <a:r>
              <a:rPr lang="ja-JP" sz="1954" b="0" baseline="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 = ℓ</a:t>
            </a:r>
            <a:r>
              <a:rPr lang="ja-JP" sz="1954" b="0" baseline="-2500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1</a:t>
            </a:r>
            <a:r>
              <a:rPr lang="ja-JP" sz="1954" b="0" baseline="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 + ℓ</a:t>
            </a:r>
            <a:r>
              <a:rPr lang="ja-JP" sz="1954" b="0" baseline="-2500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2</a:t>
            </a:r>
          </a:p>
        </p:txBody>
      </p:sp>
      <p:sp>
        <p:nvSpPr>
          <p:cNvPr id="44" name="043 文字 P(S) は、累積距離 S にある中心線上の world 座標。"/>
          <p:cNvSpPr txBox="1"/>
          <p:nvPr/>
        </p:nvSpPr>
        <p:spPr>
          <a:xfrm>
            <a:off x="820347" y="6971392"/>
            <a:ext cx="10002230" cy="32699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661" b="0" baseline="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P(S) は、累積距離 S にある中心線上の world 座標。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ookahead_projec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白背景" descr="スライド全面の白背景"/>
          <p:cNvSpPr/>
          <p:nvPr/>
        </p:nvSpPr>
        <p:spPr>
          <a:xfrm>
            <a:off x="0" y="0"/>
            <a:ext cx="10972800" cy="822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/>
          <a:lstStyle/>
          <a:p>
            <a:endParaRPr lang="ja-JP" altLang="en-US"/>
          </a:p>
        </p:txBody>
      </p:sp>
      <p:sp>
        <p:nvSpPr>
          <p:cNvPr id="2" name="001 文字 1.3 投影：中心線上の位置と、車体からの距離を分ける"/>
          <p:cNvSpPr txBox="1"/>
          <p:nvPr/>
        </p:nvSpPr>
        <p:spPr>
          <a:xfrm>
            <a:off x="1304544" y="398922"/>
            <a:ext cx="8769096" cy="3968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2016" b="1" baseline="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1.3 投影：中心線上の位置と、車体からの距離を分ける</a:t>
            </a:r>
          </a:p>
        </p:txBody>
      </p:sp>
      <p:sp>
        <p:nvSpPr>
          <p:cNvPr id="3" name="002 文字 模式図。上段は数値例、下段は候補が競合する場合の例。"/>
          <p:cNvSpPr txBox="1"/>
          <p:nvPr/>
        </p:nvSpPr>
        <p:spPr>
          <a:xfrm>
            <a:off x="1304544" y="777743"/>
            <a:ext cx="8769096" cy="28110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428" b="0" baseline="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模式図。上段は数値例、下段は候補が競合する場合の例。</a:t>
            </a:r>
          </a:p>
        </p:txBody>
      </p:sp>
      <p:sp>
        <p:nvSpPr>
          <p:cNvPr id="4" name="003 説明枠"/>
          <p:cNvSpPr/>
          <p:nvPr/>
        </p:nvSpPr>
        <p:spPr>
          <a:xfrm>
            <a:off x="1261872" y="1149096"/>
            <a:ext cx="8449056" cy="3456432"/>
          </a:xfrm>
          <a:prstGeom prst="roundRect">
            <a:avLst>
              <a:gd name="adj" fmla="val 3086"/>
            </a:avLst>
          </a:prstGeom>
          <a:solidFill>
            <a:srgbClr val="F8FAFC"/>
          </a:solidFill>
          <a:ln w="10668" cap="flat">
            <a:solidFill>
              <a:srgbClr val="CBD5E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004 文字 A. 投影点までの累積距離を求める"/>
          <p:cNvSpPr txBox="1"/>
          <p:nvPr/>
        </p:nvSpPr>
        <p:spPr>
          <a:xfrm>
            <a:off x="1475232" y="1270711"/>
            <a:ext cx="8598408" cy="33070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680" b="1" baseline="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A. 投影点までの累積距離を求める</a:t>
            </a:r>
          </a:p>
        </p:txBody>
      </p:sp>
      <p:sp>
        <p:nvSpPr>
          <p:cNvPr id="6" name="005 経路・補助線"/>
          <p:cNvSpPr/>
          <p:nvPr/>
        </p:nvSpPr>
        <p:spPr>
          <a:xfrm>
            <a:off x="1752600" y="3101340"/>
            <a:ext cx="3200400" cy="1"/>
          </a:xfrm>
          <a:custGeom>
            <a:avLst/>
            <a:gdLst/>
            <a:ahLst/>
            <a:cxnLst/>
            <a:rect l="l" t="t" r="r" b="b"/>
            <a:pathLst>
              <a:path w="3200400" h="1" fill="none" extrusionOk="0">
                <a:moveTo>
                  <a:pt x="0" y="0"/>
                </a:moveTo>
                <a:lnTo>
                  <a:pt x="3200400" y="0"/>
                </a:lnTo>
              </a:path>
            </a:pathLst>
          </a:custGeom>
          <a:noFill/>
          <a:ln w="53340" cap="rnd">
            <a:solidFill>
              <a:srgbClr val="2563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006 経路・補助線"/>
          <p:cNvSpPr/>
          <p:nvPr/>
        </p:nvSpPr>
        <p:spPr>
          <a:xfrm>
            <a:off x="4953000" y="3101340"/>
            <a:ext cx="3947160" cy="1"/>
          </a:xfrm>
          <a:custGeom>
            <a:avLst/>
            <a:gdLst/>
            <a:ahLst/>
            <a:cxnLst/>
            <a:rect l="l" t="t" r="r" b="b"/>
            <a:pathLst>
              <a:path w="3947160" h="1" fill="none" extrusionOk="0">
                <a:moveTo>
                  <a:pt x="0" y="0"/>
                </a:moveTo>
                <a:lnTo>
                  <a:pt x="3947160" y="0"/>
                </a:lnTo>
              </a:path>
            </a:pathLst>
          </a:custGeom>
          <a:noFill/>
          <a:ln w="53340" cap="rnd">
            <a:solidFill>
              <a:srgbClr val="0F766E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007 経路・補助線"/>
          <p:cNvSpPr/>
          <p:nvPr/>
        </p:nvSpPr>
        <p:spPr>
          <a:xfrm>
            <a:off x="8153400" y="3101340"/>
            <a:ext cx="426720" cy="1"/>
          </a:xfrm>
          <a:custGeom>
            <a:avLst/>
            <a:gdLst/>
            <a:ahLst/>
            <a:cxnLst/>
            <a:rect l="l" t="t" r="r" b="b"/>
            <a:pathLst>
              <a:path w="426720" h="1" fill="none" extrusionOk="0">
                <a:moveTo>
                  <a:pt x="0" y="0"/>
                </a:moveTo>
                <a:lnTo>
                  <a:pt x="426720" y="0"/>
                </a:lnTo>
              </a:path>
            </a:pathLst>
          </a:custGeom>
          <a:noFill/>
          <a:ln w="32004" cap="flat">
            <a:solidFill>
              <a:srgbClr val="0F766E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008 矢印先端"/>
          <p:cNvSpPr/>
          <p:nvPr/>
        </p:nvSpPr>
        <p:spPr>
          <a:xfrm>
            <a:off x="8407298" y="3005328"/>
            <a:ext cx="192024" cy="192024"/>
          </a:xfrm>
          <a:custGeom>
            <a:avLst/>
            <a:gdLst/>
            <a:ahLst/>
            <a:cxnLst/>
            <a:rect l="l" t="t" r="r" b="b"/>
            <a:pathLst>
              <a:path w="192024" h="192024" stroke="0" extrusionOk="0">
                <a:moveTo>
                  <a:pt x="0" y="0"/>
                </a:moveTo>
                <a:lnTo>
                  <a:pt x="192024" y="96012"/>
                </a:lnTo>
                <a:lnTo>
                  <a:pt x="0" y="192024"/>
                </a:lnTo>
                <a:close/>
              </a:path>
            </a:pathLst>
          </a:custGeom>
          <a:solidFill>
            <a:srgbClr val="0F766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009 文字 区間 1"/>
          <p:cNvSpPr txBox="1"/>
          <p:nvPr/>
        </p:nvSpPr>
        <p:spPr>
          <a:xfrm>
            <a:off x="2766060" y="2582875"/>
            <a:ext cx="7307580" cy="33070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680" b="0" baseline="0" dirty="0">
                <a:solidFill>
                  <a:srgbClr val="2563EB"/>
                </a:solidFill>
                <a:latin typeface="Arial"/>
                <a:ea typeface="Yu Gothic"/>
                <a:cs typeface="Arial"/>
              </a:rPr>
              <a:t>区間 1</a:t>
            </a:r>
          </a:p>
        </p:txBody>
      </p:sp>
      <p:sp>
        <p:nvSpPr>
          <p:cNvPr id="11" name="010 文字 区間 2"/>
          <p:cNvSpPr txBox="1"/>
          <p:nvPr/>
        </p:nvSpPr>
        <p:spPr>
          <a:xfrm>
            <a:off x="7940040" y="2582875"/>
            <a:ext cx="2133600" cy="33070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680" b="0" baseline="0" dirty="0">
                <a:solidFill>
                  <a:srgbClr val="0F766E"/>
                </a:solidFill>
                <a:latin typeface="Arial"/>
                <a:ea typeface="Yu Gothic"/>
                <a:cs typeface="Arial"/>
              </a:rPr>
              <a:t>区間 2</a:t>
            </a:r>
          </a:p>
        </p:txBody>
      </p:sp>
      <p:sp>
        <p:nvSpPr>
          <p:cNvPr id="12" name="011 車体"/>
          <p:cNvSpPr/>
          <p:nvPr/>
        </p:nvSpPr>
        <p:spPr>
          <a:xfrm>
            <a:off x="5219700" y="2599944"/>
            <a:ext cx="746760" cy="341376"/>
          </a:xfrm>
          <a:prstGeom prst="roundRect">
            <a:avLst>
              <a:gd name="adj" fmla="val 21875"/>
            </a:avLst>
          </a:prstGeom>
          <a:solidFill>
            <a:srgbClr val="FEF3C7"/>
          </a:solidFill>
          <a:ln w="16002" cap="flat">
            <a:solidFill>
              <a:srgbClr val="B4530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012 経路・補助線"/>
          <p:cNvSpPr/>
          <p:nvPr/>
        </p:nvSpPr>
        <p:spPr>
          <a:xfrm>
            <a:off x="5721096" y="2685288"/>
            <a:ext cx="96012" cy="192024"/>
          </a:xfrm>
          <a:custGeom>
            <a:avLst/>
            <a:gdLst/>
            <a:ahLst/>
            <a:cxnLst/>
            <a:rect l="l" t="t" r="r" b="b"/>
            <a:pathLst>
              <a:path w="96012" h="192024" fill="none" extrusionOk="0">
                <a:moveTo>
                  <a:pt x="0" y="0"/>
                </a:moveTo>
                <a:lnTo>
                  <a:pt x="96012" y="96012"/>
                </a:lnTo>
                <a:lnTo>
                  <a:pt x="0" y="192024"/>
                </a:lnTo>
              </a:path>
            </a:pathLst>
          </a:custGeom>
          <a:noFill/>
          <a:ln w="16002" cap="flat">
            <a:solidFill>
              <a:srgbClr val="B4530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013 経路・補助線"/>
          <p:cNvSpPr/>
          <p:nvPr/>
        </p:nvSpPr>
        <p:spPr>
          <a:xfrm>
            <a:off x="5593080" y="2781300"/>
            <a:ext cx="1" cy="320040"/>
          </a:xfrm>
          <a:custGeom>
            <a:avLst/>
            <a:gdLst/>
            <a:ahLst/>
            <a:cxnLst/>
            <a:rect l="l" t="t" r="r" b="b"/>
            <a:pathLst>
              <a:path w="1" h="320040" fill="none" extrusionOk="0">
                <a:moveTo>
                  <a:pt x="0" y="0"/>
                </a:moveTo>
                <a:lnTo>
                  <a:pt x="0" y="320040"/>
                </a:lnTo>
              </a:path>
            </a:pathLst>
          </a:custGeom>
          <a:noFill/>
          <a:ln w="16002" cap="flat">
            <a:solidFill>
              <a:srgbClr val="94A3B8"/>
            </a:solidFill>
            <a:custDash>
              <a:ds d="333333" sp="333333"/>
            </a:custDash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014 点"/>
          <p:cNvSpPr/>
          <p:nvPr/>
        </p:nvSpPr>
        <p:spPr>
          <a:xfrm>
            <a:off x="5545074" y="2733294"/>
            <a:ext cx="96012" cy="96012"/>
          </a:xfrm>
          <a:prstGeom prst="ellipse">
            <a:avLst/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015 経路・補助線"/>
          <p:cNvSpPr/>
          <p:nvPr/>
        </p:nvSpPr>
        <p:spPr>
          <a:xfrm>
            <a:off x="5646420" y="2301240"/>
            <a:ext cx="298704" cy="394716"/>
          </a:xfrm>
          <a:custGeom>
            <a:avLst/>
            <a:gdLst/>
            <a:ahLst/>
            <a:cxnLst/>
            <a:rect l="l" t="t" r="r" b="b"/>
            <a:pathLst>
              <a:path w="298704" h="394716" fill="none" extrusionOk="0">
                <a:moveTo>
                  <a:pt x="0" y="394716"/>
                </a:moveTo>
                <a:lnTo>
                  <a:pt x="298704" y="0"/>
                </a:lnTo>
              </a:path>
            </a:pathLst>
          </a:custGeom>
          <a:noFill/>
          <a:ln w="10668" cap="flat">
            <a:solidFill>
              <a:srgbClr val="B4530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016 文字 車体基準点 p"/>
          <p:cNvSpPr txBox="1"/>
          <p:nvPr/>
        </p:nvSpPr>
        <p:spPr>
          <a:xfrm>
            <a:off x="6105144" y="1932127"/>
            <a:ext cx="3968496" cy="33070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680" b="0" baseline="0" dirty="0">
                <a:solidFill>
                  <a:srgbClr val="B45309"/>
                </a:solidFill>
                <a:latin typeface="Arial"/>
                <a:ea typeface="Yu Gothic"/>
                <a:cs typeface="Arial"/>
              </a:rPr>
              <a:t>車体基準点 p</a:t>
            </a:r>
          </a:p>
        </p:txBody>
      </p:sp>
      <p:sp>
        <p:nvSpPr>
          <p:cNvPr id="18" name="017 文字 vehicle.position（車体中央）"/>
          <p:cNvSpPr txBox="1"/>
          <p:nvPr/>
        </p:nvSpPr>
        <p:spPr>
          <a:xfrm>
            <a:off x="6105144" y="2217923"/>
            <a:ext cx="3968496" cy="28110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428" b="0" baseline="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vehicle.position（車体中央）</a:t>
            </a:r>
          </a:p>
        </p:txBody>
      </p:sp>
      <p:sp>
        <p:nvSpPr>
          <p:cNvPr id="19" name="018 経路・補助線"/>
          <p:cNvSpPr/>
          <p:nvPr/>
        </p:nvSpPr>
        <p:spPr>
          <a:xfrm>
            <a:off x="5678424" y="2877312"/>
            <a:ext cx="522732" cy="117348"/>
          </a:xfrm>
          <a:custGeom>
            <a:avLst/>
            <a:gdLst/>
            <a:ahLst/>
            <a:cxnLst/>
            <a:rect l="l" t="t" r="r" b="b"/>
            <a:pathLst>
              <a:path w="522732" h="117348" fill="none" extrusionOk="0">
                <a:moveTo>
                  <a:pt x="0" y="117348"/>
                </a:moveTo>
                <a:lnTo>
                  <a:pt x="522732" y="0"/>
                </a:lnTo>
              </a:path>
            </a:pathLst>
          </a:custGeom>
          <a:noFill/>
          <a:ln w="10668" cap="flat">
            <a:solidFill>
              <a:srgbClr val="64748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019 文字 直線距離 2 m"/>
          <p:cNvSpPr txBox="1"/>
          <p:nvPr/>
        </p:nvSpPr>
        <p:spPr>
          <a:xfrm>
            <a:off x="6286500" y="2719319"/>
            <a:ext cx="3787140" cy="28110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428" b="0" baseline="0" dirty="0">
                <a:solidFill>
                  <a:srgbClr val="64748B"/>
                </a:solidFill>
                <a:latin typeface="Arial"/>
                <a:ea typeface="Yu Gothic"/>
                <a:cs typeface="Arial"/>
              </a:rPr>
              <a:t>直線距離 2 m</a:t>
            </a:r>
          </a:p>
        </p:txBody>
      </p:sp>
      <p:sp>
        <p:nvSpPr>
          <p:cNvPr id="21" name="020 点"/>
          <p:cNvSpPr/>
          <p:nvPr/>
        </p:nvSpPr>
        <p:spPr>
          <a:xfrm>
            <a:off x="1699260" y="3048000"/>
            <a:ext cx="106680" cy="106680"/>
          </a:xfrm>
          <a:prstGeom prst="ellipse">
            <a:avLst/>
          </a:prstGeom>
          <a:solidFill>
            <a:srgbClr val="172B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021 点"/>
          <p:cNvSpPr/>
          <p:nvPr/>
        </p:nvSpPr>
        <p:spPr>
          <a:xfrm>
            <a:off x="4899660" y="3048000"/>
            <a:ext cx="106680" cy="106680"/>
          </a:xfrm>
          <a:prstGeom prst="ellipse">
            <a:avLst/>
          </a:prstGeom>
          <a:solidFill>
            <a:srgbClr val="172B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022 点"/>
          <p:cNvSpPr/>
          <p:nvPr/>
        </p:nvSpPr>
        <p:spPr>
          <a:xfrm>
            <a:off x="5539740" y="3048000"/>
            <a:ext cx="106680" cy="10668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023 文字 S = 0"/>
          <p:cNvSpPr txBox="1"/>
          <p:nvPr/>
        </p:nvSpPr>
        <p:spPr>
          <a:xfrm>
            <a:off x="1539240" y="3220715"/>
            <a:ext cx="8534400" cy="28110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428" b="0" baseline="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S = 0</a:t>
            </a:r>
          </a:p>
        </p:txBody>
      </p:sp>
      <p:sp>
        <p:nvSpPr>
          <p:cNvPr id="25" name="024 文字 20 m"/>
          <p:cNvSpPr txBox="1"/>
          <p:nvPr/>
        </p:nvSpPr>
        <p:spPr>
          <a:xfrm>
            <a:off x="4718304" y="3220715"/>
            <a:ext cx="5355336" cy="28110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428" b="0" baseline="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20 m</a:t>
            </a:r>
          </a:p>
        </p:txBody>
      </p:sp>
      <p:sp>
        <p:nvSpPr>
          <p:cNvPr id="26" name="025 経路・補助線"/>
          <p:cNvSpPr/>
          <p:nvPr/>
        </p:nvSpPr>
        <p:spPr>
          <a:xfrm>
            <a:off x="5646420" y="3176016"/>
            <a:ext cx="330708" cy="224028"/>
          </a:xfrm>
          <a:custGeom>
            <a:avLst/>
            <a:gdLst/>
            <a:ahLst/>
            <a:cxnLst/>
            <a:rect l="l" t="t" r="r" b="b"/>
            <a:pathLst>
              <a:path w="330708" h="224028" fill="none" extrusionOk="0">
                <a:moveTo>
                  <a:pt x="0" y="0"/>
                </a:moveTo>
                <a:lnTo>
                  <a:pt x="330708" y="224028"/>
                </a:lnTo>
              </a:path>
            </a:pathLst>
          </a:custGeom>
          <a:noFill/>
          <a:ln w="10668" cap="flat">
            <a:solidFill>
              <a:srgbClr val="64748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026 文字 投影点 P(Sproj)"/>
          <p:cNvSpPr txBox="1"/>
          <p:nvPr/>
        </p:nvSpPr>
        <p:spPr>
          <a:xfrm>
            <a:off x="6073140" y="3297631"/>
            <a:ext cx="4000500" cy="33070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680" b="0" baseline="0" dirty="0">
                <a:solidFill>
                  <a:srgbClr val="0F766E"/>
                </a:solidFill>
                <a:latin typeface="Arial"/>
                <a:ea typeface="Yu Gothic"/>
                <a:cs typeface="Arial"/>
              </a:rPr>
              <a:t>投影点 P(S</a:t>
            </a:r>
            <a:r>
              <a:rPr lang="ja-JP" sz="1680" b="0" baseline="-25000" dirty="0">
                <a:solidFill>
                  <a:srgbClr val="0F766E"/>
                </a:solidFill>
                <a:latin typeface="Arial"/>
                <a:ea typeface="Yu Gothic"/>
                <a:cs typeface="Arial"/>
              </a:rPr>
              <a:t>proj</a:t>
            </a:r>
            <a:r>
              <a:rPr lang="ja-JP" sz="1680" b="0" baseline="0" dirty="0">
                <a:solidFill>
                  <a:srgbClr val="0F766E"/>
                </a:solidFill>
                <a:latin typeface="Arial"/>
                <a:ea typeface="Yu Gothic"/>
                <a:cs typeface="Arial"/>
              </a:rPr>
              <a:t>)</a:t>
            </a:r>
          </a:p>
        </p:txBody>
      </p:sp>
      <p:sp>
        <p:nvSpPr>
          <p:cNvPr id="28" name="027 経路・補助線"/>
          <p:cNvSpPr/>
          <p:nvPr/>
        </p:nvSpPr>
        <p:spPr>
          <a:xfrm>
            <a:off x="1752600" y="3560064"/>
            <a:ext cx="3200400" cy="1"/>
          </a:xfrm>
          <a:custGeom>
            <a:avLst/>
            <a:gdLst/>
            <a:ahLst/>
            <a:cxnLst/>
            <a:rect l="l" t="t" r="r" b="b"/>
            <a:pathLst>
              <a:path w="3200400" h="1" fill="none" extrusionOk="0">
                <a:moveTo>
                  <a:pt x="0" y="0"/>
                </a:moveTo>
                <a:lnTo>
                  <a:pt x="3200400" y="0"/>
                </a:lnTo>
              </a:path>
            </a:pathLst>
          </a:custGeom>
          <a:noFill/>
          <a:ln w="16002" cap="flat">
            <a:solidFill>
              <a:srgbClr val="64748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028 矢印先端"/>
          <p:cNvSpPr/>
          <p:nvPr/>
        </p:nvSpPr>
        <p:spPr>
          <a:xfrm>
            <a:off x="1742999" y="3512058"/>
            <a:ext cx="96012" cy="96012"/>
          </a:xfrm>
          <a:custGeom>
            <a:avLst/>
            <a:gdLst/>
            <a:ahLst/>
            <a:cxnLst/>
            <a:rect l="l" t="t" r="r" b="b"/>
            <a:pathLst>
              <a:path w="96012" h="96012" stroke="0" extrusionOk="0">
                <a:moveTo>
                  <a:pt x="96012" y="96012"/>
                </a:moveTo>
                <a:lnTo>
                  <a:pt x="0" y="48006"/>
                </a:lnTo>
                <a:lnTo>
                  <a:pt x="96012" y="0"/>
                </a:lnTo>
                <a:close/>
              </a:path>
            </a:pathLst>
          </a:custGeom>
          <a:solidFill>
            <a:srgbClr val="64748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029 矢印先端"/>
          <p:cNvSpPr/>
          <p:nvPr/>
        </p:nvSpPr>
        <p:spPr>
          <a:xfrm>
            <a:off x="4866589" y="3512058"/>
            <a:ext cx="96012" cy="96012"/>
          </a:xfrm>
          <a:custGeom>
            <a:avLst/>
            <a:gdLst/>
            <a:ahLst/>
            <a:cxnLst/>
            <a:rect l="l" t="t" r="r" b="b"/>
            <a:pathLst>
              <a:path w="96012" h="96012" stroke="0" extrusionOk="0">
                <a:moveTo>
                  <a:pt x="0" y="0"/>
                </a:moveTo>
                <a:lnTo>
                  <a:pt x="96012" y="48006"/>
                </a:lnTo>
                <a:lnTo>
                  <a:pt x="0" y="96012"/>
                </a:lnTo>
                <a:close/>
              </a:path>
            </a:pathLst>
          </a:custGeom>
          <a:solidFill>
            <a:srgbClr val="64748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030 経路・補助線"/>
          <p:cNvSpPr/>
          <p:nvPr/>
        </p:nvSpPr>
        <p:spPr>
          <a:xfrm>
            <a:off x="4953000" y="3560064"/>
            <a:ext cx="640080" cy="1"/>
          </a:xfrm>
          <a:custGeom>
            <a:avLst/>
            <a:gdLst/>
            <a:ahLst/>
            <a:cxnLst/>
            <a:rect l="l" t="t" r="r" b="b"/>
            <a:pathLst>
              <a:path w="640080" h="1" fill="none" extrusionOk="0">
                <a:moveTo>
                  <a:pt x="0" y="0"/>
                </a:moveTo>
                <a:lnTo>
                  <a:pt x="640080" y="0"/>
                </a:lnTo>
              </a:path>
            </a:pathLst>
          </a:custGeom>
          <a:noFill/>
          <a:ln w="16002" cap="flat">
            <a:solidFill>
              <a:srgbClr val="64748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031 矢印先端"/>
          <p:cNvSpPr/>
          <p:nvPr/>
        </p:nvSpPr>
        <p:spPr>
          <a:xfrm>
            <a:off x="4943399" y="3512058"/>
            <a:ext cx="96012" cy="96012"/>
          </a:xfrm>
          <a:custGeom>
            <a:avLst/>
            <a:gdLst/>
            <a:ahLst/>
            <a:cxnLst/>
            <a:rect l="l" t="t" r="r" b="b"/>
            <a:pathLst>
              <a:path w="96012" h="96012" stroke="0" extrusionOk="0">
                <a:moveTo>
                  <a:pt x="96012" y="96012"/>
                </a:moveTo>
                <a:lnTo>
                  <a:pt x="0" y="48006"/>
                </a:lnTo>
                <a:lnTo>
                  <a:pt x="96012" y="0"/>
                </a:lnTo>
                <a:close/>
              </a:path>
            </a:pathLst>
          </a:custGeom>
          <a:solidFill>
            <a:srgbClr val="64748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032 矢印先端"/>
          <p:cNvSpPr/>
          <p:nvPr/>
        </p:nvSpPr>
        <p:spPr>
          <a:xfrm>
            <a:off x="5506669" y="3512058"/>
            <a:ext cx="96012" cy="96012"/>
          </a:xfrm>
          <a:custGeom>
            <a:avLst/>
            <a:gdLst/>
            <a:ahLst/>
            <a:cxnLst/>
            <a:rect l="l" t="t" r="r" b="b"/>
            <a:pathLst>
              <a:path w="96012" h="96012" stroke="0" extrusionOk="0">
                <a:moveTo>
                  <a:pt x="0" y="0"/>
                </a:moveTo>
                <a:lnTo>
                  <a:pt x="96012" y="48006"/>
                </a:lnTo>
                <a:lnTo>
                  <a:pt x="0" y="96012"/>
                </a:lnTo>
                <a:close/>
              </a:path>
            </a:pathLst>
          </a:custGeom>
          <a:solidFill>
            <a:srgbClr val="64748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033 文字 20 m（Sstart）"/>
          <p:cNvSpPr txBox="1"/>
          <p:nvPr/>
        </p:nvSpPr>
        <p:spPr>
          <a:xfrm>
            <a:off x="1112520" y="3681679"/>
            <a:ext cx="4480560" cy="33070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680" b="0" baseline="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20 m（S</a:t>
            </a:r>
            <a:r>
              <a:rPr lang="ja-JP" sz="1680" b="0" baseline="-2500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start</a:t>
            </a:r>
            <a:r>
              <a:rPr lang="ja-JP" sz="1680" b="0" baseline="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）</a:t>
            </a:r>
          </a:p>
        </p:txBody>
      </p:sp>
      <p:sp>
        <p:nvSpPr>
          <p:cNvPr id="35" name="034 文字 4 m（slocal）"/>
          <p:cNvSpPr txBox="1"/>
          <p:nvPr/>
        </p:nvSpPr>
        <p:spPr>
          <a:xfrm>
            <a:off x="3406140" y="3711443"/>
            <a:ext cx="4480560" cy="28110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428" b="0" baseline="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4 m（s</a:t>
            </a:r>
            <a:r>
              <a:rPr lang="ja-JP" sz="1428" b="0" baseline="-2500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local</a:t>
            </a:r>
            <a:r>
              <a:rPr lang="ja-JP" sz="1428" b="0" baseline="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）</a:t>
            </a:r>
          </a:p>
        </p:txBody>
      </p:sp>
      <p:sp>
        <p:nvSpPr>
          <p:cNvPr id="36" name="035 文字 Sproj = Sstart + slocal = 20 + 4 = 24 "/>
          <p:cNvSpPr txBox="1"/>
          <p:nvPr/>
        </p:nvSpPr>
        <p:spPr>
          <a:xfrm>
            <a:off x="1475232" y="4161739"/>
            <a:ext cx="8598408" cy="33070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680" b="1" baseline="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S</a:t>
            </a:r>
            <a:r>
              <a:rPr lang="ja-JP" sz="1680" b="1" baseline="-2500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proj</a:t>
            </a:r>
            <a:r>
              <a:rPr lang="ja-JP" sz="1680" b="1" baseline="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 = S</a:t>
            </a:r>
            <a:r>
              <a:rPr lang="ja-JP" sz="1680" b="1" baseline="-2500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start</a:t>
            </a:r>
            <a:r>
              <a:rPr lang="ja-JP" sz="1680" b="1" baseline="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 + s</a:t>
            </a:r>
            <a:r>
              <a:rPr lang="ja-JP" sz="1680" b="1" baseline="-2500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local</a:t>
            </a:r>
            <a:r>
              <a:rPr lang="ja-JP" sz="1680" b="1" baseline="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 = 20 + 4 = 24 m</a:t>
            </a:r>
          </a:p>
        </p:txBody>
      </p:sp>
      <p:sp>
        <p:nvSpPr>
          <p:cNvPr id="37" name="036 説明枠"/>
          <p:cNvSpPr/>
          <p:nvPr/>
        </p:nvSpPr>
        <p:spPr>
          <a:xfrm>
            <a:off x="1261872" y="4818888"/>
            <a:ext cx="4117848" cy="2901696"/>
          </a:xfrm>
          <a:prstGeom prst="roundRect">
            <a:avLst>
              <a:gd name="adj" fmla="val 3676"/>
            </a:avLst>
          </a:prstGeom>
          <a:solidFill>
            <a:srgbClr val="F8FAFC"/>
          </a:solidFill>
          <a:ln w="10668" cap="flat">
            <a:solidFill>
              <a:srgbClr val="CBD5E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037 説明枠"/>
          <p:cNvSpPr/>
          <p:nvPr/>
        </p:nvSpPr>
        <p:spPr>
          <a:xfrm>
            <a:off x="5550408" y="4818888"/>
            <a:ext cx="4160520" cy="2901696"/>
          </a:xfrm>
          <a:prstGeom prst="roundRect">
            <a:avLst>
              <a:gd name="adj" fmla="val 3676"/>
            </a:avLst>
          </a:prstGeom>
          <a:solidFill>
            <a:srgbClr val="F8FAFC"/>
          </a:solidFill>
          <a:ln w="10668" cap="flat">
            <a:solidFill>
              <a:srgbClr val="CBD5E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038 文字 B. 隣接区間の共有端点"/>
          <p:cNvSpPr txBox="1"/>
          <p:nvPr/>
        </p:nvSpPr>
        <p:spPr>
          <a:xfrm>
            <a:off x="1475232" y="4961839"/>
            <a:ext cx="8598408" cy="33070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680" b="1" baseline="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B. 隣接区間の共有端点</a:t>
            </a:r>
          </a:p>
        </p:txBody>
      </p:sp>
      <p:sp>
        <p:nvSpPr>
          <p:cNvPr id="40" name="039 経路・補助線"/>
          <p:cNvSpPr/>
          <p:nvPr/>
        </p:nvSpPr>
        <p:spPr>
          <a:xfrm>
            <a:off x="1645920" y="5757672"/>
            <a:ext cx="1493520" cy="1"/>
          </a:xfrm>
          <a:custGeom>
            <a:avLst/>
            <a:gdLst/>
            <a:ahLst/>
            <a:cxnLst/>
            <a:rect l="l" t="t" r="r" b="b"/>
            <a:pathLst>
              <a:path w="1493520" h="1" fill="none" extrusionOk="0">
                <a:moveTo>
                  <a:pt x="0" y="0"/>
                </a:moveTo>
                <a:lnTo>
                  <a:pt x="1493520" y="0"/>
                </a:lnTo>
              </a:path>
            </a:pathLst>
          </a:custGeom>
          <a:noFill/>
          <a:ln w="53340" cap="rnd">
            <a:solidFill>
              <a:srgbClr val="2563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040 経路・補助線"/>
          <p:cNvSpPr/>
          <p:nvPr/>
        </p:nvSpPr>
        <p:spPr>
          <a:xfrm>
            <a:off x="3139440" y="5757672"/>
            <a:ext cx="1813560" cy="1"/>
          </a:xfrm>
          <a:custGeom>
            <a:avLst/>
            <a:gdLst/>
            <a:ahLst/>
            <a:cxnLst/>
            <a:rect l="l" t="t" r="r" b="b"/>
            <a:pathLst>
              <a:path w="1813560" h="1" fill="none" extrusionOk="0">
                <a:moveTo>
                  <a:pt x="0" y="0"/>
                </a:moveTo>
                <a:lnTo>
                  <a:pt x="1813560" y="0"/>
                </a:lnTo>
              </a:path>
            </a:pathLst>
          </a:custGeom>
          <a:noFill/>
          <a:ln w="53340" cap="rnd">
            <a:solidFill>
              <a:srgbClr val="0F766E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041 文字 区間 1"/>
          <p:cNvSpPr txBox="1"/>
          <p:nvPr/>
        </p:nvSpPr>
        <p:spPr>
          <a:xfrm>
            <a:off x="1752600" y="5386319"/>
            <a:ext cx="8321040" cy="28110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428" b="0" baseline="0" dirty="0">
                <a:solidFill>
                  <a:srgbClr val="2563EB"/>
                </a:solidFill>
                <a:latin typeface="Arial"/>
                <a:ea typeface="Yu Gothic"/>
                <a:cs typeface="Arial"/>
              </a:rPr>
              <a:t>区間 1</a:t>
            </a:r>
          </a:p>
        </p:txBody>
      </p:sp>
      <p:sp>
        <p:nvSpPr>
          <p:cNvPr id="43" name="042 文字 区間 2"/>
          <p:cNvSpPr txBox="1"/>
          <p:nvPr/>
        </p:nvSpPr>
        <p:spPr>
          <a:xfrm>
            <a:off x="4046220" y="5386319"/>
            <a:ext cx="6027420" cy="28110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428" b="0" baseline="0" dirty="0">
                <a:solidFill>
                  <a:srgbClr val="0F766E"/>
                </a:solidFill>
                <a:latin typeface="Arial"/>
                <a:ea typeface="Yu Gothic"/>
                <a:cs typeface="Arial"/>
              </a:rPr>
              <a:t>区間 2</a:t>
            </a:r>
          </a:p>
        </p:txBody>
      </p:sp>
      <p:sp>
        <p:nvSpPr>
          <p:cNvPr id="44" name="043 点"/>
          <p:cNvSpPr/>
          <p:nvPr/>
        </p:nvSpPr>
        <p:spPr>
          <a:xfrm>
            <a:off x="3086100" y="5704332"/>
            <a:ext cx="106680" cy="106680"/>
          </a:xfrm>
          <a:prstGeom prst="ellipse">
            <a:avLst/>
          </a:prstGeom>
          <a:solidFill>
            <a:srgbClr val="172B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044 経路・補助線"/>
          <p:cNvSpPr/>
          <p:nvPr/>
        </p:nvSpPr>
        <p:spPr>
          <a:xfrm>
            <a:off x="3139440" y="5757672"/>
            <a:ext cx="1" cy="490728"/>
          </a:xfrm>
          <a:custGeom>
            <a:avLst/>
            <a:gdLst/>
            <a:ahLst/>
            <a:cxnLst/>
            <a:rect l="l" t="t" r="r" b="b"/>
            <a:pathLst>
              <a:path w="1" h="490728" fill="none" extrusionOk="0">
                <a:moveTo>
                  <a:pt x="0" y="0"/>
                </a:moveTo>
                <a:lnTo>
                  <a:pt x="0" y="490728"/>
                </a:lnTo>
              </a:path>
            </a:pathLst>
          </a:custGeom>
          <a:noFill/>
          <a:ln w="16002" cap="flat">
            <a:solidFill>
              <a:srgbClr val="94A3B8"/>
            </a:solidFill>
            <a:custDash>
              <a:ds d="333333" sp="333333"/>
            </a:custDash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045 点"/>
          <p:cNvSpPr/>
          <p:nvPr/>
        </p:nvSpPr>
        <p:spPr>
          <a:xfrm>
            <a:off x="3086100" y="6195060"/>
            <a:ext cx="106680" cy="106680"/>
          </a:xfrm>
          <a:prstGeom prst="ellipse">
            <a:avLst/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046 文字 p"/>
          <p:cNvSpPr txBox="1"/>
          <p:nvPr/>
        </p:nvSpPr>
        <p:spPr>
          <a:xfrm>
            <a:off x="3299460" y="6113983"/>
            <a:ext cx="6774180" cy="33070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680" b="0" baseline="0" dirty="0">
                <a:solidFill>
                  <a:srgbClr val="B45309"/>
                </a:solidFill>
                <a:latin typeface="Arial"/>
                <a:ea typeface="Yu Gothic"/>
                <a:cs typeface="Arial"/>
              </a:rPr>
              <a:t>p</a:t>
            </a:r>
          </a:p>
        </p:txBody>
      </p:sp>
      <p:sp>
        <p:nvSpPr>
          <p:cNvPr id="48" name="047 文字 同じ接続点・累積位置・距離"/>
          <p:cNvSpPr txBox="1"/>
          <p:nvPr/>
        </p:nvSpPr>
        <p:spPr>
          <a:xfrm>
            <a:off x="1475232" y="6655811"/>
            <a:ext cx="8598408" cy="28110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428" b="0" baseline="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同じ接続点・累積位置・距離</a:t>
            </a:r>
          </a:p>
        </p:txBody>
      </p:sp>
      <p:sp>
        <p:nvSpPr>
          <p:cNvPr id="49" name="048 文字 → 前区間の候補を採用"/>
          <p:cNvSpPr txBox="1"/>
          <p:nvPr/>
        </p:nvSpPr>
        <p:spPr>
          <a:xfrm>
            <a:off x="1475232" y="6986519"/>
            <a:ext cx="8598408" cy="28110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428" b="0" baseline="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→ 前区間の候補を採用</a:t>
            </a:r>
          </a:p>
        </p:txBody>
      </p:sp>
      <p:sp>
        <p:nvSpPr>
          <p:cNvPr id="50" name="049 文字 非隣接区間との競合がない場合。"/>
          <p:cNvSpPr txBox="1"/>
          <p:nvPr/>
        </p:nvSpPr>
        <p:spPr>
          <a:xfrm>
            <a:off x="1475232" y="7317227"/>
            <a:ext cx="8598408" cy="28110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428" b="0" baseline="0" dirty="0">
                <a:solidFill>
                  <a:srgbClr val="64748B"/>
                </a:solidFill>
                <a:latin typeface="Arial"/>
                <a:ea typeface="Yu Gothic"/>
                <a:cs typeface="Arial"/>
              </a:rPr>
              <a:t>非隣接区間との競合がない場合。</a:t>
            </a:r>
          </a:p>
        </p:txBody>
      </p:sp>
      <p:sp>
        <p:nvSpPr>
          <p:cNvPr id="51" name="050 文字 C. 非隣接区間の競合"/>
          <p:cNvSpPr txBox="1"/>
          <p:nvPr/>
        </p:nvSpPr>
        <p:spPr>
          <a:xfrm>
            <a:off x="5763768" y="4961839"/>
            <a:ext cx="4309872" cy="33070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680" b="1" baseline="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C. 非隣接区間の競合</a:t>
            </a:r>
          </a:p>
        </p:txBody>
      </p:sp>
      <p:sp>
        <p:nvSpPr>
          <p:cNvPr id="52" name="051 経路・補助線"/>
          <p:cNvSpPr/>
          <p:nvPr/>
        </p:nvSpPr>
        <p:spPr>
          <a:xfrm>
            <a:off x="5913120" y="5715000"/>
            <a:ext cx="2720340" cy="1"/>
          </a:xfrm>
          <a:custGeom>
            <a:avLst/>
            <a:gdLst/>
            <a:ahLst/>
            <a:cxnLst/>
            <a:rect l="l" t="t" r="r" b="b"/>
            <a:pathLst>
              <a:path w="2720340" h="1" fill="none" extrusionOk="0">
                <a:moveTo>
                  <a:pt x="0" y="0"/>
                </a:moveTo>
                <a:lnTo>
                  <a:pt x="2720340" y="0"/>
                </a:lnTo>
              </a:path>
            </a:pathLst>
          </a:custGeom>
          <a:noFill/>
          <a:ln w="53340" cap="rnd">
            <a:solidFill>
              <a:srgbClr val="2563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052 経路・補助線"/>
          <p:cNvSpPr/>
          <p:nvPr/>
        </p:nvSpPr>
        <p:spPr>
          <a:xfrm>
            <a:off x="8633460" y="5715000"/>
            <a:ext cx="426720" cy="853440"/>
          </a:xfrm>
          <a:custGeom>
            <a:avLst/>
            <a:gdLst/>
            <a:ahLst/>
            <a:cxnLst/>
            <a:rect l="l" t="t" r="r" b="b"/>
            <a:pathLst>
              <a:path w="426720" h="853440" fill="none" extrusionOk="0">
                <a:moveTo>
                  <a:pt x="0" y="0"/>
                </a:moveTo>
                <a:cubicBezTo>
                  <a:pt x="74899" y="0"/>
                  <a:pt x="148495" y="19720"/>
                  <a:pt x="213360" y="57170"/>
                </a:cubicBezTo>
                <a:cubicBezTo>
                  <a:pt x="278225" y="94619"/>
                  <a:pt x="332101" y="148495"/>
                  <a:pt x="369550" y="213360"/>
                </a:cubicBezTo>
                <a:cubicBezTo>
                  <a:pt x="407000" y="278225"/>
                  <a:pt x="426720" y="351821"/>
                  <a:pt x="426720" y="426720"/>
                </a:cubicBezTo>
                <a:cubicBezTo>
                  <a:pt x="426720" y="501619"/>
                  <a:pt x="407000" y="575215"/>
                  <a:pt x="369550" y="640080"/>
                </a:cubicBezTo>
                <a:cubicBezTo>
                  <a:pt x="332101" y="704945"/>
                  <a:pt x="278225" y="758821"/>
                  <a:pt x="213360" y="796270"/>
                </a:cubicBezTo>
                <a:cubicBezTo>
                  <a:pt x="148495" y="833720"/>
                  <a:pt x="74899" y="853440"/>
                  <a:pt x="0" y="853440"/>
                </a:cubicBezTo>
              </a:path>
            </a:pathLst>
          </a:custGeom>
          <a:noFill/>
          <a:ln w="53340" cap="flat">
            <a:solidFill>
              <a:srgbClr val="64748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053 経路・補助線"/>
          <p:cNvSpPr/>
          <p:nvPr/>
        </p:nvSpPr>
        <p:spPr>
          <a:xfrm>
            <a:off x="5913120" y="6568440"/>
            <a:ext cx="2720340" cy="1"/>
          </a:xfrm>
          <a:custGeom>
            <a:avLst/>
            <a:gdLst/>
            <a:ahLst/>
            <a:cxnLst/>
            <a:rect l="l" t="t" r="r" b="b"/>
            <a:pathLst>
              <a:path w="2720340" h="1" fill="none" extrusionOk="0">
                <a:moveTo>
                  <a:pt x="2720340" y="0"/>
                </a:moveTo>
                <a:lnTo>
                  <a:pt x="0" y="0"/>
                </a:lnTo>
              </a:path>
            </a:pathLst>
          </a:custGeom>
          <a:noFill/>
          <a:ln w="53340" cap="rnd">
            <a:solidFill>
              <a:srgbClr val="0F766E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054 経路・補助線"/>
          <p:cNvSpPr/>
          <p:nvPr/>
        </p:nvSpPr>
        <p:spPr>
          <a:xfrm>
            <a:off x="7940040" y="5715000"/>
            <a:ext cx="320040" cy="1"/>
          </a:xfrm>
          <a:custGeom>
            <a:avLst/>
            <a:gdLst/>
            <a:ahLst/>
            <a:cxnLst/>
            <a:rect l="l" t="t" r="r" b="b"/>
            <a:pathLst>
              <a:path w="320040" h="1" fill="none" extrusionOk="0">
                <a:moveTo>
                  <a:pt x="0" y="0"/>
                </a:moveTo>
                <a:lnTo>
                  <a:pt x="320040" y="0"/>
                </a:lnTo>
              </a:path>
            </a:pathLst>
          </a:custGeom>
          <a:noFill/>
          <a:ln w="32004" cap="flat">
            <a:solidFill>
              <a:srgbClr val="2563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055 矢印先端"/>
          <p:cNvSpPr/>
          <p:nvPr/>
        </p:nvSpPr>
        <p:spPr>
          <a:xfrm>
            <a:off x="8087258" y="5618988"/>
            <a:ext cx="192024" cy="192024"/>
          </a:xfrm>
          <a:custGeom>
            <a:avLst/>
            <a:gdLst/>
            <a:ahLst/>
            <a:cxnLst/>
            <a:rect l="l" t="t" r="r" b="b"/>
            <a:pathLst>
              <a:path w="192024" h="192024" stroke="0" extrusionOk="0">
                <a:moveTo>
                  <a:pt x="0" y="0"/>
                </a:moveTo>
                <a:lnTo>
                  <a:pt x="192024" y="96012"/>
                </a:lnTo>
                <a:lnTo>
                  <a:pt x="0" y="192024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056 経路・補助線"/>
          <p:cNvSpPr/>
          <p:nvPr/>
        </p:nvSpPr>
        <p:spPr>
          <a:xfrm>
            <a:off x="7940040" y="6568440"/>
            <a:ext cx="320040" cy="1"/>
          </a:xfrm>
          <a:custGeom>
            <a:avLst/>
            <a:gdLst/>
            <a:ahLst/>
            <a:cxnLst/>
            <a:rect l="l" t="t" r="r" b="b"/>
            <a:pathLst>
              <a:path w="320040" h="1" fill="none" extrusionOk="0">
                <a:moveTo>
                  <a:pt x="320040" y="0"/>
                </a:moveTo>
                <a:lnTo>
                  <a:pt x="0" y="0"/>
                </a:lnTo>
              </a:path>
            </a:pathLst>
          </a:custGeom>
          <a:noFill/>
          <a:ln w="32004" cap="flat">
            <a:solidFill>
              <a:srgbClr val="0F766E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057 矢印先端"/>
          <p:cNvSpPr/>
          <p:nvPr/>
        </p:nvSpPr>
        <p:spPr>
          <a:xfrm>
            <a:off x="7920838" y="6472428"/>
            <a:ext cx="192024" cy="192024"/>
          </a:xfrm>
          <a:custGeom>
            <a:avLst/>
            <a:gdLst/>
            <a:ahLst/>
            <a:cxnLst/>
            <a:rect l="l" t="t" r="r" b="b"/>
            <a:pathLst>
              <a:path w="192024" h="192024" stroke="0" extrusionOk="0">
                <a:moveTo>
                  <a:pt x="192024" y="192024"/>
                </a:moveTo>
                <a:lnTo>
                  <a:pt x="0" y="96012"/>
                </a:lnTo>
                <a:lnTo>
                  <a:pt x="192024" y="0"/>
                </a:lnTo>
                <a:close/>
              </a:path>
            </a:pathLst>
          </a:custGeom>
          <a:solidFill>
            <a:srgbClr val="0F766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058 文字 区間 1"/>
          <p:cNvSpPr txBox="1"/>
          <p:nvPr/>
        </p:nvSpPr>
        <p:spPr>
          <a:xfrm>
            <a:off x="7620000" y="5364983"/>
            <a:ext cx="2453640" cy="28110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428" b="0" baseline="0" dirty="0">
                <a:solidFill>
                  <a:srgbClr val="2563EB"/>
                </a:solidFill>
                <a:latin typeface="Arial"/>
                <a:ea typeface="Yu Gothic"/>
                <a:cs typeface="Arial"/>
              </a:rPr>
              <a:t>区間 1</a:t>
            </a:r>
          </a:p>
        </p:txBody>
      </p:sp>
      <p:sp>
        <p:nvSpPr>
          <p:cNvPr id="60" name="059 文字 2"/>
          <p:cNvSpPr txBox="1"/>
          <p:nvPr/>
        </p:nvSpPr>
        <p:spPr>
          <a:xfrm>
            <a:off x="9230868" y="6047735"/>
            <a:ext cx="1280160" cy="28110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428" b="0" baseline="0" dirty="0">
                <a:solidFill>
                  <a:srgbClr val="64748B"/>
                </a:solidFill>
                <a:latin typeface="Arial"/>
                <a:ea typeface="Yu Gothic"/>
                <a:cs typeface="Arial"/>
              </a:rPr>
              <a:t>2</a:t>
            </a:r>
          </a:p>
        </p:txBody>
      </p:sp>
      <p:sp>
        <p:nvSpPr>
          <p:cNvPr id="61" name="060 文字 区間 3"/>
          <p:cNvSpPr txBox="1"/>
          <p:nvPr/>
        </p:nvSpPr>
        <p:spPr>
          <a:xfrm>
            <a:off x="7620000" y="6687815"/>
            <a:ext cx="2453640" cy="28110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428" b="0" baseline="0" dirty="0">
                <a:solidFill>
                  <a:srgbClr val="0F766E"/>
                </a:solidFill>
                <a:latin typeface="Arial"/>
                <a:ea typeface="Yu Gothic"/>
                <a:cs typeface="Arial"/>
              </a:rPr>
              <a:t>区間 3</a:t>
            </a:r>
          </a:p>
        </p:txBody>
      </p:sp>
      <p:sp>
        <p:nvSpPr>
          <p:cNvPr id="62" name="061 経路・補助線"/>
          <p:cNvSpPr/>
          <p:nvPr/>
        </p:nvSpPr>
        <p:spPr>
          <a:xfrm>
            <a:off x="7086600" y="5715000"/>
            <a:ext cx="1" cy="853440"/>
          </a:xfrm>
          <a:custGeom>
            <a:avLst/>
            <a:gdLst/>
            <a:ahLst/>
            <a:cxnLst/>
            <a:rect l="l" t="t" r="r" b="b"/>
            <a:pathLst>
              <a:path w="1" h="853440" fill="none" extrusionOk="0">
                <a:moveTo>
                  <a:pt x="0" y="0"/>
                </a:moveTo>
                <a:lnTo>
                  <a:pt x="0" y="853440"/>
                </a:lnTo>
              </a:path>
            </a:pathLst>
          </a:custGeom>
          <a:noFill/>
          <a:ln w="16002" cap="flat">
            <a:solidFill>
              <a:srgbClr val="94A3B8"/>
            </a:solidFill>
            <a:custDash>
              <a:ds d="333333" sp="333333"/>
            </a:custDash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062 点"/>
          <p:cNvSpPr/>
          <p:nvPr/>
        </p:nvSpPr>
        <p:spPr>
          <a:xfrm>
            <a:off x="7033260" y="5661660"/>
            <a:ext cx="106680" cy="1066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063 点"/>
          <p:cNvSpPr/>
          <p:nvPr/>
        </p:nvSpPr>
        <p:spPr>
          <a:xfrm>
            <a:off x="7033260" y="6515100"/>
            <a:ext cx="106680" cy="10668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064 点"/>
          <p:cNvSpPr/>
          <p:nvPr/>
        </p:nvSpPr>
        <p:spPr>
          <a:xfrm>
            <a:off x="7033260" y="6088380"/>
            <a:ext cx="106680" cy="106680"/>
          </a:xfrm>
          <a:prstGeom prst="ellipse">
            <a:avLst/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065 文字 p"/>
          <p:cNvSpPr txBox="1"/>
          <p:nvPr/>
        </p:nvSpPr>
        <p:spPr>
          <a:xfrm>
            <a:off x="6819900" y="6017971"/>
            <a:ext cx="3253740" cy="33070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680" b="0" baseline="0" dirty="0">
                <a:solidFill>
                  <a:srgbClr val="B45309"/>
                </a:solidFill>
                <a:latin typeface="Arial"/>
                <a:ea typeface="Yu Gothic"/>
                <a:cs typeface="Arial"/>
              </a:rPr>
              <a:t>p</a:t>
            </a:r>
          </a:p>
        </p:txBody>
      </p:sp>
      <p:sp>
        <p:nvSpPr>
          <p:cNvPr id="67" name="066 文字 d"/>
          <p:cNvSpPr txBox="1"/>
          <p:nvPr/>
        </p:nvSpPr>
        <p:spPr>
          <a:xfrm>
            <a:off x="7214616" y="5834375"/>
            <a:ext cx="2859024" cy="28110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428" b="0" baseline="0" dirty="0">
                <a:solidFill>
                  <a:srgbClr val="64748B"/>
                </a:solidFill>
                <a:latin typeface="Arial"/>
                <a:ea typeface="Yu Gothic"/>
                <a:cs typeface="Arial"/>
              </a:rPr>
              <a:t>d</a:t>
            </a:r>
          </a:p>
        </p:txBody>
      </p:sp>
      <p:sp>
        <p:nvSpPr>
          <p:cNvPr id="68" name="067 文字 d"/>
          <p:cNvSpPr txBox="1"/>
          <p:nvPr/>
        </p:nvSpPr>
        <p:spPr>
          <a:xfrm>
            <a:off x="7214616" y="6282431"/>
            <a:ext cx="2859024" cy="28110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428" b="0" baseline="0" dirty="0">
                <a:solidFill>
                  <a:srgbClr val="64748B"/>
                </a:solidFill>
                <a:latin typeface="Arial"/>
                <a:ea typeface="Yu Gothic"/>
                <a:cs typeface="Arial"/>
              </a:rPr>
              <a:t>d</a:t>
            </a:r>
          </a:p>
        </p:txBody>
      </p:sp>
      <p:sp>
        <p:nvSpPr>
          <p:cNvPr id="69" name="068 文字 距離差 ≤ 0.001 m → 無効"/>
          <p:cNvSpPr txBox="1"/>
          <p:nvPr/>
        </p:nvSpPr>
        <p:spPr>
          <a:xfrm>
            <a:off x="5763768" y="7018523"/>
            <a:ext cx="4309872" cy="28110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428" b="0" baseline="0" dirty="0">
                <a:solidFill>
                  <a:srgbClr val="B91C1C"/>
                </a:solidFill>
                <a:latin typeface="Arial"/>
                <a:ea typeface="Yu Gothic"/>
                <a:cs typeface="Arial"/>
              </a:rPr>
              <a:t>距離差 ≤ 0.001 m → 無効</a:t>
            </a:r>
          </a:p>
        </p:txBody>
      </p:sp>
      <p:sp>
        <p:nvSpPr>
          <p:cNvPr id="70" name="069 文字 ambiguous_projection（b = 0）"/>
          <p:cNvSpPr txBox="1"/>
          <p:nvPr/>
        </p:nvSpPr>
        <p:spPr>
          <a:xfrm>
            <a:off x="5763768" y="7317227"/>
            <a:ext cx="4309872" cy="28110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428" b="0" baseline="0" dirty="0">
                <a:solidFill>
                  <a:srgbClr val="B91C1C"/>
                </a:solidFill>
                <a:latin typeface="Arial"/>
                <a:ea typeface="Yu Gothic"/>
                <a:cs typeface="Arial"/>
              </a:rPr>
              <a:t>ambiguous_projection（b = 0）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ookahead_go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白背景" descr="スライド全面の白背景"/>
          <p:cNvSpPr/>
          <p:nvPr/>
        </p:nvSpPr>
        <p:spPr>
          <a:xfrm>
            <a:off x="0" y="0"/>
            <a:ext cx="10972800" cy="822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/>
          <a:lstStyle/>
          <a:p>
            <a:endParaRPr lang="ja-JP" altLang="en-US"/>
          </a:p>
        </p:txBody>
      </p:sp>
      <p:sp>
        <p:nvSpPr>
          <p:cNvPr id="2" name="001 文字 1.4 注視点：投影点から経路に沿って Ld だけ進む"/>
          <p:cNvSpPr txBox="1"/>
          <p:nvPr/>
        </p:nvSpPr>
        <p:spPr>
          <a:xfrm>
            <a:off x="630051" y="419019"/>
            <a:ext cx="10183466" cy="46085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2341" b="1" baseline="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1.4 注視点：投影点から経路に沿って L</a:t>
            </a:r>
            <a:r>
              <a:rPr lang="ja-JP" sz="2341" b="1" baseline="-2500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d</a:t>
            </a:r>
            <a:r>
              <a:rPr lang="ja-JP" sz="2341" b="1" baseline="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 だけ進む</a:t>
            </a:r>
          </a:p>
        </p:txBody>
      </p:sp>
      <p:sp>
        <p:nvSpPr>
          <p:cNvPr id="3" name="002 文字 緑の円弧が Ld。灰色の破線は、投影点と注視点を結ぶ弦。"/>
          <p:cNvSpPr txBox="1"/>
          <p:nvPr/>
        </p:nvSpPr>
        <p:spPr>
          <a:xfrm>
            <a:off x="630051" y="858940"/>
            <a:ext cx="10183466" cy="32644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658" b="0" baseline="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緑の円弧が L</a:t>
            </a:r>
            <a:r>
              <a:rPr lang="ja-JP" sz="1658" b="0" baseline="-2500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d</a:t>
            </a:r>
            <a:r>
              <a:rPr lang="ja-JP" altLang="en-US" sz="1658" b="0" baseline="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である。</a:t>
            </a:r>
            <a:r>
              <a:rPr lang="ja-JP" sz="1658" b="0" baseline="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灰色の破線は、投影点と注視点を結ぶ弦</a:t>
            </a:r>
            <a:r>
              <a:rPr lang="ja-JP" altLang="en-US" sz="1658" b="0" baseline="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である</a:t>
            </a:r>
            <a:r>
              <a:rPr lang="ja-JP" sz="1658" b="0" baseline="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。</a:t>
            </a:r>
          </a:p>
        </p:txBody>
      </p:sp>
      <p:sp>
        <p:nvSpPr>
          <p:cNvPr id="4" name="003 経路・補助線"/>
          <p:cNvSpPr/>
          <p:nvPr/>
        </p:nvSpPr>
        <p:spPr>
          <a:xfrm>
            <a:off x="1150374" y="4610346"/>
            <a:ext cx="991092" cy="1"/>
          </a:xfrm>
          <a:custGeom>
            <a:avLst/>
            <a:gdLst/>
            <a:ahLst/>
            <a:cxnLst/>
            <a:rect l="l" t="t" r="r" b="b"/>
            <a:pathLst>
              <a:path w="991092" h="1" fill="none" extrusionOk="0">
                <a:moveTo>
                  <a:pt x="0" y="0"/>
                </a:moveTo>
                <a:lnTo>
                  <a:pt x="991092" y="0"/>
                </a:lnTo>
              </a:path>
            </a:pathLst>
          </a:custGeom>
          <a:noFill/>
          <a:ln w="49555" cap="flat">
            <a:solidFill>
              <a:srgbClr val="94A3B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004 経路・補助線"/>
          <p:cNvSpPr/>
          <p:nvPr/>
        </p:nvSpPr>
        <p:spPr>
          <a:xfrm>
            <a:off x="2141466" y="2380390"/>
            <a:ext cx="2229956" cy="2229956"/>
          </a:xfrm>
          <a:custGeom>
            <a:avLst/>
            <a:gdLst/>
            <a:ahLst/>
            <a:cxnLst/>
            <a:rect l="l" t="t" r="r" b="b"/>
            <a:pathLst>
              <a:path w="2229956" h="2229956" fill="none" extrusionOk="0">
                <a:moveTo>
                  <a:pt x="0" y="2229956"/>
                </a:moveTo>
                <a:cubicBezTo>
                  <a:pt x="391410" y="2229956"/>
                  <a:pt x="776007" y="2126904"/>
                  <a:pt x="1114978" y="1931199"/>
                </a:cubicBezTo>
                <a:cubicBezTo>
                  <a:pt x="1453949" y="1735494"/>
                  <a:pt x="1735494" y="1453949"/>
                  <a:pt x="1931199" y="1114978"/>
                </a:cubicBezTo>
                <a:cubicBezTo>
                  <a:pt x="2126904" y="776007"/>
                  <a:pt x="2229956" y="391410"/>
                  <a:pt x="2229956" y="0"/>
                </a:cubicBezTo>
              </a:path>
            </a:pathLst>
          </a:custGeom>
          <a:noFill/>
          <a:ln w="61943" cap="rnd">
            <a:solidFill>
              <a:srgbClr val="0F766E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005 経路・補助線"/>
          <p:cNvSpPr/>
          <p:nvPr/>
        </p:nvSpPr>
        <p:spPr>
          <a:xfrm>
            <a:off x="4072608" y="2767659"/>
            <a:ext cx="264993" cy="727709"/>
          </a:xfrm>
          <a:custGeom>
            <a:avLst/>
            <a:gdLst/>
            <a:ahLst/>
            <a:cxnLst/>
            <a:rect l="l" t="t" r="r" b="b"/>
            <a:pathLst>
              <a:path w="264993" h="727709" fill="none" extrusionOk="0">
                <a:moveTo>
                  <a:pt x="0" y="727709"/>
                </a:moveTo>
                <a:cubicBezTo>
                  <a:pt x="130097" y="502455"/>
                  <a:pt x="219783" y="256165"/>
                  <a:pt x="264993" y="0"/>
                </a:cubicBezTo>
              </a:path>
            </a:pathLst>
          </a:custGeom>
          <a:noFill/>
          <a:ln w="37166" cap="flat">
            <a:solidFill>
              <a:srgbClr val="0F766E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006 矢印先端"/>
          <p:cNvSpPr/>
          <p:nvPr/>
        </p:nvSpPr>
        <p:spPr>
          <a:xfrm>
            <a:off x="4192918" y="2745699"/>
            <a:ext cx="219602" cy="238980"/>
          </a:xfrm>
          <a:custGeom>
            <a:avLst/>
            <a:gdLst/>
            <a:ahLst/>
            <a:cxnLst/>
            <a:rect l="l" t="t" r="r" b="b"/>
            <a:pathLst>
              <a:path w="219602" h="238980" stroke="0" extrusionOk="0">
                <a:moveTo>
                  <a:pt x="0" y="200223"/>
                </a:moveTo>
                <a:lnTo>
                  <a:pt x="148558" y="0"/>
                </a:lnTo>
                <a:lnTo>
                  <a:pt x="219602" y="238980"/>
                </a:lnTo>
                <a:close/>
              </a:path>
            </a:pathLst>
          </a:custGeom>
          <a:solidFill>
            <a:srgbClr val="0F766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007 経路・補助線"/>
          <p:cNvSpPr/>
          <p:nvPr/>
        </p:nvSpPr>
        <p:spPr>
          <a:xfrm>
            <a:off x="4371422" y="1612294"/>
            <a:ext cx="1" cy="768096"/>
          </a:xfrm>
          <a:custGeom>
            <a:avLst/>
            <a:gdLst/>
            <a:ahLst/>
            <a:cxnLst/>
            <a:rect l="l" t="t" r="r" b="b"/>
            <a:pathLst>
              <a:path w="1" h="768096" fill="none" extrusionOk="0">
                <a:moveTo>
                  <a:pt x="0" y="768096"/>
                </a:moveTo>
                <a:lnTo>
                  <a:pt x="0" y="0"/>
                </a:lnTo>
              </a:path>
            </a:pathLst>
          </a:custGeom>
          <a:noFill/>
          <a:ln w="49555" cap="flat">
            <a:solidFill>
              <a:srgbClr val="94A3B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008 経路・補助線"/>
          <p:cNvSpPr/>
          <p:nvPr/>
        </p:nvSpPr>
        <p:spPr>
          <a:xfrm>
            <a:off x="2141466" y="2380390"/>
            <a:ext cx="2229956" cy="2229956"/>
          </a:xfrm>
          <a:custGeom>
            <a:avLst/>
            <a:gdLst/>
            <a:ahLst/>
            <a:cxnLst/>
            <a:rect l="l" t="t" r="r" b="b"/>
            <a:pathLst>
              <a:path w="2229956" h="2229956" fill="none" extrusionOk="0">
                <a:moveTo>
                  <a:pt x="0" y="2229956"/>
                </a:moveTo>
                <a:lnTo>
                  <a:pt x="2229956" y="0"/>
                </a:lnTo>
              </a:path>
            </a:pathLst>
          </a:custGeom>
          <a:noFill/>
          <a:ln w="18583" cap="flat">
            <a:solidFill>
              <a:srgbClr val="94A3B8"/>
            </a:solidFill>
            <a:custDash>
              <a:ds d="333333" sp="333333"/>
            </a:custDash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009 文字 弦（直線距離）"/>
          <p:cNvSpPr txBox="1"/>
          <p:nvPr/>
        </p:nvSpPr>
        <p:spPr>
          <a:xfrm>
            <a:off x="1546811" y="3138451"/>
            <a:ext cx="9266707" cy="32644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658" b="0" baseline="0" dirty="0">
                <a:solidFill>
                  <a:srgbClr val="64748B"/>
                </a:solidFill>
                <a:latin typeface="Arial"/>
                <a:ea typeface="Yu Gothic"/>
                <a:cs typeface="Arial"/>
              </a:rPr>
              <a:t>弦（直線距離）</a:t>
            </a:r>
          </a:p>
        </p:txBody>
      </p:sp>
      <p:sp>
        <p:nvSpPr>
          <p:cNvPr id="11" name="010 経路・補助線"/>
          <p:cNvSpPr/>
          <p:nvPr/>
        </p:nvSpPr>
        <p:spPr>
          <a:xfrm>
            <a:off x="2860007" y="3433425"/>
            <a:ext cx="359271" cy="99109"/>
          </a:xfrm>
          <a:custGeom>
            <a:avLst/>
            <a:gdLst/>
            <a:ahLst/>
            <a:cxnLst/>
            <a:rect l="l" t="t" r="r" b="b"/>
            <a:pathLst>
              <a:path w="359271" h="99109" fill="none" extrusionOk="0">
                <a:moveTo>
                  <a:pt x="0" y="0"/>
                </a:moveTo>
                <a:lnTo>
                  <a:pt x="359271" y="99109"/>
                </a:lnTo>
              </a:path>
            </a:pathLst>
          </a:custGeom>
          <a:noFill/>
          <a:ln w="12389" cap="flat">
            <a:solidFill>
              <a:srgbClr val="94A3B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011 経路・補助線"/>
          <p:cNvSpPr/>
          <p:nvPr/>
        </p:nvSpPr>
        <p:spPr>
          <a:xfrm>
            <a:off x="3826322" y="3842250"/>
            <a:ext cx="1040646" cy="1"/>
          </a:xfrm>
          <a:custGeom>
            <a:avLst/>
            <a:gdLst/>
            <a:ahLst/>
            <a:cxnLst/>
            <a:rect l="l" t="t" r="r" b="b"/>
            <a:pathLst>
              <a:path w="1040646" h="1" fill="none" extrusionOk="0">
                <a:moveTo>
                  <a:pt x="0" y="0"/>
                </a:moveTo>
                <a:lnTo>
                  <a:pt x="1040646" y="0"/>
                </a:lnTo>
              </a:path>
            </a:pathLst>
          </a:custGeom>
          <a:noFill/>
          <a:ln w="12389" cap="flat">
            <a:solidFill>
              <a:srgbClr val="0F766E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012 文字 Ld"/>
          <p:cNvSpPr txBox="1"/>
          <p:nvPr/>
        </p:nvSpPr>
        <p:spPr>
          <a:xfrm>
            <a:off x="5040409" y="3599432"/>
            <a:ext cx="5773109" cy="3840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950" b="1" baseline="0" dirty="0">
                <a:solidFill>
                  <a:srgbClr val="0F766E"/>
                </a:solidFill>
                <a:latin typeface="Arial"/>
                <a:ea typeface="Yu Gothic"/>
                <a:cs typeface="Arial"/>
              </a:rPr>
              <a:t>L</a:t>
            </a:r>
            <a:r>
              <a:rPr lang="ja-JP" sz="1950" b="1" baseline="-25000" dirty="0">
                <a:solidFill>
                  <a:srgbClr val="0F766E"/>
                </a:solidFill>
                <a:latin typeface="Arial"/>
                <a:ea typeface="Yu Gothic"/>
                <a:cs typeface="Arial"/>
              </a:rPr>
              <a:t>d</a:t>
            </a:r>
          </a:p>
        </p:txBody>
      </p:sp>
      <p:sp>
        <p:nvSpPr>
          <p:cNvPr id="14" name="013 文字 経路に沿う弧長"/>
          <p:cNvSpPr txBox="1"/>
          <p:nvPr/>
        </p:nvSpPr>
        <p:spPr>
          <a:xfrm>
            <a:off x="5040409" y="3968490"/>
            <a:ext cx="5773109" cy="32644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658" b="0" baseline="0" dirty="0">
                <a:solidFill>
                  <a:srgbClr val="0F766E"/>
                </a:solidFill>
                <a:latin typeface="Arial"/>
                <a:ea typeface="Yu Gothic"/>
                <a:cs typeface="Arial"/>
              </a:rPr>
              <a:t>経路に沿う弧長</a:t>
            </a:r>
          </a:p>
        </p:txBody>
      </p:sp>
      <p:sp>
        <p:nvSpPr>
          <p:cNvPr id="15" name="014 点"/>
          <p:cNvSpPr/>
          <p:nvPr/>
        </p:nvSpPr>
        <p:spPr>
          <a:xfrm>
            <a:off x="2079523" y="4548403"/>
            <a:ext cx="123886" cy="12388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015 文字 投影点"/>
          <p:cNvSpPr txBox="1"/>
          <p:nvPr/>
        </p:nvSpPr>
        <p:spPr>
          <a:xfrm>
            <a:off x="828269" y="4129542"/>
            <a:ext cx="9985248" cy="32644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658" b="0" baseline="0" dirty="0">
                <a:solidFill>
                  <a:srgbClr val="2563EB"/>
                </a:solidFill>
                <a:latin typeface="Arial"/>
                <a:ea typeface="Yu Gothic"/>
                <a:cs typeface="Arial"/>
              </a:rPr>
              <a:t>投影点</a:t>
            </a:r>
          </a:p>
        </p:txBody>
      </p:sp>
      <p:sp>
        <p:nvSpPr>
          <p:cNvPr id="17" name="016 文字 P(Sproj)"/>
          <p:cNvSpPr txBox="1"/>
          <p:nvPr/>
        </p:nvSpPr>
        <p:spPr>
          <a:xfrm>
            <a:off x="2760898" y="4726799"/>
            <a:ext cx="8052619" cy="3840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950" b="0" baseline="0" dirty="0">
                <a:solidFill>
                  <a:srgbClr val="2563EB"/>
                </a:solidFill>
                <a:latin typeface="Arial"/>
                <a:ea typeface="Yu Gothic"/>
                <a:cs typeface="Arial"/>
              </a:rPr>
              <a:t>P(S</a:t>
            </a:r>
            <a:r>
              <a:rPr lang="ja-JP" sz="1950" b="0" baseline="-25000" dirty="0">
                <a:solidFill>
                  <a:srgbClr val="2563EB"/>
                </a:solidFill>
                <a:latin typeface="Arial"/>
                <a:ea typeface="Yu Gothic"/>
                <a:cs typeface="Arial"/>
              </a:rPr>
              <a:t>proj</a:t>
            </a:r>
            <a:r>
              <a:rPr lang="ja-JP" sz="1950" b="0" baseline="0" dirty="0">
                <a:solidFill>
                  <a:srgbClr val="2563EB"/>
                </a:solidFill>
                <a:latin typeface="Arial"/>
                <a:ea typeface="Yu Gothic"/>
                <a:cs typeface="Arial"/>
              </a:rPr>
              <a:t>)</a:t>
            </a:r>
          </a:p>
        </p:txBody>
      </p:sp>
      <p:sp>
        <p:nvSpPr>
          <p:cNvPr id="18" name="017 経路・補助線"/>
          <p:cNvSpPr/>
          <p:nvPr/>
        </p:nvSpPr>
        <p:spPr>
          <a:xfrm>
            <a:off x="2215798" y="4672289"/>
            <a:ext cx="421214" cy="198218"/>
          </a:xfrm>
          <a:custGeom>
            <a:avLst/>
            <a:gdLst/>
            <a:ahLst/>
            <a:cxnLst/>
            <a:rect l="l" t="t" r="r" b="b"/>
            <a:pathLst>
              <a:path w="421214" h="198218" fill="none" extrusionOk="0">
                <a:moveTo>
                  <a:pt x="0" y="0"/>
                </a:moveTo>
                <a:lnTo>
                  <a:pt x="421214" y="198218"/>
                </a:lnTo>
              </a:path>
            </a:pathLst>
          </a:custGeom>
          <a:noFill/>
          <a:ln w="12389" cap="flat">
            <a:solidFill>
              <a:srgbClr val="2563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018 車体"/>
          <p:cNvSpPr/>
          <p:nvPr/>
        </p:nvSpPr>
        <p:spPr>
          <a:xfrm>
            <a:off x="1707863" y="4932451"/>
            <a:ext cx="867205" cy="396437"/>
          </a:xfrm>
          <a:prstGeom prst="roundRect">
            <a:avLst>
              <a:gd name="adj" fmla="val 21875"/>
            </a:avLst>
          </a:prstGeom>
          <a:solidFill>
            <a:srgbClr val="FEF3C7"/>
          </a:solidFill>
          <a:ln w="18583" cap="flat">
            <a:solidFill>
              <a:srgbClr val="B4530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019 経路・補助線"/>
          <p:cNvSpPr/>
          <p:nvPr/>
        </p:nvSpPr>
        <p:spPr>
          <a:xfrm>
            <a:off x="2314907" y="5019171"/>
            <a:ext cx="111498" cy="222996"/>
          </a:xfrm>
          <a:custGeom>
            <a:avLst/>
            <a:gdLst/>
            <a:ahLst/>
            <a:cxnLst/>
            <a:rect l="l" t="t" r="r" b="b"/>
            <a:pathLst>
              <a:path w="111498" h="222996" fill="none" extrusionOk="0">
                <a:moveTo>
                  <a:pt x="0" y="0"/>
                </a:moveTo>
                <a:lnTo>
                  <a:pt x="111498" y="111498"/>
                </a:lnTo>
                <a:lnTo>
                  <a:pt x="0" y="222996"/>
                </a:lnTo>
              </a:path>
            </a:pathLst>
          </a:custGeom>
          <a:noFill/>
          <a:ln w="18583" cap="flat">
            <a:solidFill>
              <a:srgbClr val="B4530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020 経路・補助線"/>
          <p:cNvSpPr/>
          <p:nvPr/>
        </p:nvSpPr>
        <p:spPr>
          <a:xfrm>
            <a:off x="2141466" y="4610346"/>
            <a:ext cx="1" cy="520323"/>
          </a:xfrm>
          <a:custGeom>
            <a:avLst/>
            <a:gdLst/>
            <a:ahLst/>
            <a:cxnLst/>
            <a:rect l="l" t="t" r="r" b="b"/>
            <a:pathLst>
              <a:path w="1" h="520323" fill="none" extrusionOk="0">
                <a:moveTo>
                  <a:pt x="0" y="0"/>
                </a:moveTo>
                <a:lnTo>
                  <a:pt x="0" y="520323"/>
                </a:lnTo>
              </a:path>
            </a:pathLst>
          </a:custGeom>
          <a:noFill/>
          <a:ln w="18583" cap="flat">
            <a:solidFill>
              <a:srgbClr val="94A3B8"/>
            </a:solidFill>
            <a:custDash>
              <a:ds d="333333" sp="333333"/>
            </a:custDash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021 点"/>
          <p:cNvSpPr/>
          <p:nvPr/>
        </p:nvSpPr>
        <p:spPr>
          <a:xfrm>
            <a:off x="2085717" y="5074920"/>
            <a:ext cx="111498" cy="111498"/>
          </a:xfrm>
          <a:prstGeom prst="ellipse">
            <a:avLst/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022 文字 車体基準点 p"/>
          <p:cNvSpPr txBox="1"/>
          <p:nvPr/>
        </p:nvSpPr>
        <p:spPr>
          <a:xfrm>
            <a:off x="1076042" y="5405573"/>
            <a:ext cx="9737475" cy="32644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658" b="0" baseline="0" dirty="0">
                <a:solidFill>
                  <a:srgbClr val="B45309"/>
                </a:solidFill>
                <a:latin typeface="Arial"/>
                <a:ea typeface="Yu Gothic"/>
                <a:cs typeface="Arial"/>
              </a:rPr>
              <a:t>車体基準点 p</a:t>
            </a:r>
          </a:p>
        </p:txBody>
      </p:sp>
      <p:sp>
        <p:nvSpPr>
          <p:cNvPr id="24" name="023 点"/>
          <p:cNvSpPr/>
          <p:nvPr/>
        </p:nvSpPr>
        <p:spPr>
          <a:xfrm>
            <a:off x="4297090" y="2306058"/>
            <a:ext cx="148664" cy="148664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024 文字 q"/>
          <p:cNvSpPr txBox="1"/>
          <p:nvPr/>
        </p:nvSpPr>
        <p:spPr>
          <a:xfrm>
            <a:off x="4656361" y="2199515"/>
            <a:ext cx="6157157" cy="3840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950" b="0" baseline="0" dirty="0">
                <a:solidFill>
                  <a:srgbClr val="0F766E"/>
                </a:solidFill>
                <a:latin typeface="Arial"/>
                <a:ea typeface="Yu Gothic"/>
                <a:cs typeface="Arial"/>
              </a:rPr>
              <a:t>q</a:t>
            </a:r>
          </a:p>
        </p:txBody>
      </p:sp>
      <p:sp>
        <p:nvSpPr>
          <p:cNvPr id="26" name="025 文字 注視点"/>
          <p:cNvSpPr txBox="1"/>
          <p:nvPr/>
        </p:nvSpPr>
        <p:spPr>
          <a:xfrm>
            <a:off x="4656361" y="2568573"/>
            <a:ext cx="6157157" cy="32644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658" b="0" baseline="0" dirty="0">
                <a:solidFill>
                  <a:srgbClr val="0F766E"/>
                </a:solidFill>
                <a:latin typeface="Arial"/>
                <a:ea typeface="Yu Gothic"/>
                <a:cs typeface="Arial"/>
              </a:rPr>
              <a:t>注視点</a:t>
            </a:r>
          </a:p>
        </p:txBody>
      </p:sp>
      <p:sp>
        <p:nvSpPr>
          <p:cNvPr id="27" name="026 説明枠"/>
          <p:cNvSpPr/>
          <p:nvPr/>
        </p:nvSpPr>
        <p:spPr>
          <a:xfrm>
            <a:off x="5833282" y="1463630"/>
            <a:ext cx="4559021" cy="1833519"/>
          </a:xfrm>
          <a:prstGeom prst="roundRect">
            <a:avLst>
              <a:gd name="adj" fmla="val 6756"/>
            </a:avLst>
          </a:prstGeom>
          <a:solidFill>
            <a:srgbClr val="F8FAFC"/>
          </a:solidFill>
          <a:ln w="12389" cap="flat">
            <a:solidFill>
              <a:srgbClr val="CBD5E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027 文字 Sgoal = Sproj + Ld"/>
          <p:cNvSpPr txBox="1"/>
          <p:nvPr/>
        </p:nvSpPr>
        <p:spPr>
          <a:xfrm>
            <a:off x="6105832" y="1642026"/>
            <a:ext cx="4707685" cy="3840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950" b="1" baseline="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S</a:t>
            </a:r>
            <a:r>
              <a:rPr lang="ja-JP" sz="1950" b="1" baseline="-2500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goal</a:t>
            </a:r>
            <a:r>
              <a:rPr lang="ja-JP" sz="1950" b="1" baseline="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 = S</a:t>
            </a:r>
            <a:r>
              <a:rPr lang="ja-JP" sz="1950" b="1" baseline="-2500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proj</a:t>
            </a:r>
            <a:r>
              <a:rPr lang="ja-JP" sz="1950" b="1" baseline="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 + L</a:t>
            </a:r>
            <a:r>
              <a:rPr lang="ja-JP" sz="1950" b="1" baseline="-2500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d</a:t>
            </a:r>
          </a:p>
        </p:txBody>
      </p:sp>
      <p:sp>
        <p:nvSpPr>
          <p:cNvPr id="29" name="028 文字 q = P(Sgoal)"/>
          <p:cNvSpPr txBox="1"/>
          <p:nvPr/>
        </p:nvSpPr>
        <p:spPr>
          <a:xfrm>
            <a:off x="6105832" y="2063240"/>
            <a:ext cx="4707685" cy="3840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950" b="1" baseline="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q = P(S</a:t>
            </a:r>
            <a:r>
              <a:rPr lang="ja-JP" sz="1950" b="1" baseline="-2500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goal</a:t>
            </a:r>
            <a:r>
              <a:rPr lang="ja-JP" sz="1950" b="1" baseline="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)</a:t>
            </a:r>
          </a:p>
        </p:txBody>
      </p:sp>
      <p:sp>
        <p:nvSpPr>
          <p:cNvPr id="30" name="029 文字 まず累積距離を足し、"/>
          <p:cNvSpPr txBox="1"/>
          <p:nvPr/>
        </p:nvSpPr>
        <p:spPr>
          <a:xfrm>
            <a:off x="6105832" y="2531407"/>
            <a:ext cx="4707685" cy="32644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658" b="0" baseline="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まず累積距離を足し、</a:t>
            </a:r>
          </a:p>
        </p:txBody>
      </p:sp>
      <p:sp>
        <p:nvSpPr>
          <p:cNvPr id="31" name="030 文字 次に経路上の座標を得る。"/>
          <p:cNvSpPr txBox="1"/>
          <p:nvPr/>
        </p:nvSpPr>
        <p:spPr>
          <a:xfrm>
            <a:off x="6105832" y="2853512"/>
            <a:ext cx="4707685" cy="32644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658" b="0" baseline="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次に経路上の座標を得る。</a:t>
            </a:r>
          </a:p>
        </p:txBody>
      </p:sp>
      <p:sp>
        <p:nvSpPr>
          <p:cNvPr id="32" name="031 説明枠"/>
          <p:cNvSpPr/>
          <p:nvPr/>
        </p:nvSpPr>
        <p:spPr>
          <a:xfrm>
            <a:off x="580497" y="5873988"/>
            <a:ext cx="9811807" cy="1833519"/>
          </a:xfrm>
          <a:prstGeom prst="roundRect">
            <a:avLst>
              <a:gd name="adj" fmla="val 6756"/>
            </a:avLst>
          </a:prstGeom>
          <a:solidFill>
            <a:srgbClr val="F8FAFC"/>
          </a:solidFill>
          <a:ln w="12389" cap="flat">
            <a:solidFill>
              <a:srgbClr val="CBD5E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032 文字 終端を越える場合"/>
          <p:cNvSpPr txBox="1"/>
          <p:nvPr/>
        </p:nvSpPr>
        <p:spPr>
          <a:xfrm>
            <a:off x="828269" y="5990441"/>
            <a:ext cx="9985248" cy="3840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950" b="1" baseline="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終端を越える場合</a:t>
            </a:r>
          </a:p>
        </p:txBody>
      </p:sp>
      <p:sp>
        <p:nvSpPr>
          <p:cNvPr id="34" name="033 文字 累積距離 S"/>
          <p:cNvSpPr txBox="1"/>
          <p:nvPr/>
        </p:nvSpPr>
        <p:spPr>
          <a:xfrm>
            <a:off x="8657893" y="6025005"/>
            <a:ext cx="2155624" cy="32644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658" b="0" baseline="0" dirty="0">
                <a:solidFill>
                  <a:srgbClr val="64748B"/>
                </a:solidFill>
                <a:latin typeface="Arial"/>
                <a:ea typeface="Yu Gothic"/>
                <a:cs typeface="Arial"/>
              </a:rPr>
              <a:t>累積距離 S</a:t>
            </a:r>
          </a:p>
        </p:txBody>
      </p:sp>
      <p:sp>
        <p:nvSpPr>
          <p:cNvPr id="35" name="034 経路・補助線"/>
          <p:cNvSpPr/>
          <p:nvPr/>
        </p:nvSpPr>
        <p:spPr>
          <a:xfrm>
            <a:off x="1150374" y="6877468"/>
            <a:ext cx="5512947" cy="1"/>
          </a:xfrm>
          <a:custGeom>
            <a:avLst/>
            <a:gdLst/>
            <a:ahLst/>
            <a:cxnLst/>
            <a:rect l="l" t="t" r="r" b="b"/>
            <a:pathLst>
              <a:path w="5512947" h="1" fill="none" extrusionOk="0">
                <a:moveTo>
                  <a:pt x="0" y="0"/>
                </a:moveTo>
                <a:lnTo>
                  <a:pt x="5512947" y="0"/>
                </a:lnTo>
              </a:path>
            </a:pathLst>
          </a:custGeom>
          <a:noFill/>
          <a:ln w="37166" cap="flat">
            <a:solidFill>
              <a:srgbClr val="64748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035 経路・補助線"/>
          <p:cNvSpPr/>
          <p:nvPr/>
        </p:nvSpPr>
        <p:spPr>
          <a:xfrm>
            <a:off x="6663321" y="6877468"/>
            <a:ext cx="2973275" cy="1"/>
          </a:xfrm>
          <a:custGeom>
            <a:avLst/>
            <a:gdLst/>
            <a:ahLst/>
            <a:cxnLst/>
            <a:rect l="l" t="t" r="r" b="b"/>
            <a:pathLst>
              <a:path w="2973275" h="1" fill="none" extrusionOk="0">
                <a:moveTo>
                  <a:pt x="0" y="0"/>
                </a:moveTo>
                <a:lnTo>
                  <a:pt x="2973275" y="0"/>
                </a:lnTo>
              </a:path>
            </a:pathLst>
          </a:custGeom>
          <a:noFill/>
          <a:ln w="18583" cap="flat">
            <a:solidFill>
              <a:srgbClr val="B91C1C"/>
            </a:solidFill>
            <a:custDash>
              <a:ds d="333333" sp="333333"/>
            </a:custDash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036 経路・補助線"/>
          <p:cNvSpPr/>
          <p:nvPr/>
        </p:nvSpPr>
        <p:spPr>
          <a:xfrm>
            <a:off x="2265352" y="6567752"/>
            <a:ext cx="6442095" cy="1"/>
          </a:xfrm>
          <a:custGeom>
            <a:avLst/>
            <a:gdLst/>
            <a:ahLst/>
            <a:cxnLst/>
            <a:rect l="l" t="t" r="r" b="b"/>
            <a:pathLst>
              <a:path w="6442095" h="1" fill="none" extrusionOk="0">
                <a:moveTo>
                  <a:pt x="0" y="0"/>
                </a:moveTo>
                <a:lnTo>
                  <a:pt x="6442095" y="0"/>
                </a:lnTo>
              </a:path>
            </a:pathLst>
          </a:custGeom>
          <a:noFill/>
          <a:ln w="24777" cap="flat">
            <a:solidFill>
              <a:srgbClr val="0F766E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037 矢印先端"/>
          <p:cNvSpPr/>
          <p:nvPr/>
        </p:nvSpPr>
        <p:spPr>
          <a:xfrm>
            <a:off x="8573650" y="6493420"/>
            <a:ext cx="148664" cy="148664"/>
          </a:xfrm>
          <a:custGeom>
            <a:avLst/>
            <a:gdLst/>
            <a:ahLst/>
            <a:cxnLst/>
            <a:rect l="l" t="t" r="r" b="b"/>
            <a:pathLst>
              <a:path w="148664" h="148664" stroke="0" extrusionOk="0">
                <a:moveTo>
                  <a:pt x="0" y="0"/>
                </a:moveTo>
                <a:lnTo>
                  <a:pt x="148664" y="74332"/>
                </a:lnTo>
                <a:lnTo>
                  <a:pt x="0" y="148664"/>
                </a:lnTo>
                <a:close/>
              </a:path>
            </a:pathLst>
          </a:custGeom>
          <a:solidFill>
            <a:srgbClr val="0F766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038 文字 Ld"/>
          <p:cNvSpPr txBox="1"/>
          <p:nvPr/>
        </p:nvSpPr>
        <p:spPr>
          <a:xfrm>
            <a:off x="5275793" y="6210835"/>
            <a:ext cx="5537724" cy="32644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658" b="0" baseline="0" dirty="0">
                <a:solidFill>
                  <a:srgbClr val="0F766E"/>
                </a:solidFill>
                <a:latin typeface="Arial"/>
                <a:ea typeface="Yu Gothic"/>
                <a:cs typeface="Arial"/>
              </a:rPr>
              <a:t>L</a:t>
            </a:r>
            <a:r>
              <a:rPr lang="ja-JP" sz="1658" b="0" baseline="-25000" dirty="0">
                <a:solidFill>
                  <a:srgbClr val="0F766E"/>
                </a:solidFill>
                <a:latin typeface="Arial"/>
                <a:ea typeface="Yu Gothic"/>
                <a:cs typeface="Arial"/>
              </a:rPr>
              <a:t>d</a:t>
            </a:r>
          </a:p>
        </p:txBody>
      </p:sp>
      <p:sp>
        <p:nvSpPr>
          <p:cNvPr id="40" name="039 点"/>
          <p:cNvSpPr/>
          <p:nvPr/>
        </p:nvSpPr>
        <p:spPr>
          <a:xfrm>
            <a:off x="2203409" y="6815525"/>
            <a:ext cx="123886" cy="12388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040 経路・補助線"/>
          <p:cNvSpPr/>
          <p:nvPr/>
        </p:nvSpPr>
        <p:spPr>
          <a:xfrm>
            <a:off x="6663321" y="6741193"/>
            <a:ext cx="1" cy="272550"/>
          </a:xfrm>
          <a:custGeom>
            <a:avLst/>
            <a:gdLst/>
            <a:ahLst/>
            <a:cxnLst/>
            <a:rect l="l" t="t" r="r" b="b"/>
            <a:pathLst>
              <a:path w="1" h="272550" fill="none" extrusionOk="0">
                <a:moveTo>
                  <a:pt x="0" y="0"/>
                </a:moveTo>
                <a:lnTo>
                  <a:pt x="0" y="272550"/>
                </a:lnTo>
              </a:path>
            </a:pathLst>
          </a:custGeom>
          <a:noFill/>
          <a:ln w="24777" cap="flat">
            <a:solidFill>
              <a:srgbClr val="172B4D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041 経路・補助線"/>
          <p:cNvSpPr/>
          <p:nvPr/>
        </p:nvSpPr>
        <p:spPr>
          <a:xfrm>
            <a:off x="8620727" y="6790747"/>
            <a:ext cx="173441" cy="173441"/>
          </a:xfrm>
          <a:custGeom>
            <a:avLst/>
            <a:gdLst/>
            <a:ahLst/>
            <a:cxnLst/>
            <a:rect l="l" t="t" r="r" b="b"/>
            <a:pathLst>
              <a:path w="173441" h="173441" fill="none" extrusionOk="0">
                <a:moveTo>
                  <a:pt x="0" y="0"/>
                </a:moveTo>
                <a:lnTo>
                  <a:pt x="173441" y="173441"/>
                </a:lnTo>
                <a:moveTo>
                  <a:pt x="0" y="173441"/>
                </a:moveTo>
                <a:lnTo>
                  <a:pt x="173441" y="0"/>
                </a:lnTo>
              </a:path>
            </a:pathLst>
          </a:custGeom>
          <a:noFill/>
          <a:ln w="37166" cap="flat">
            <a:solidFill>
              <a:srgbClr val="B91C1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042 文字 Sproj"/>
          <p:cNvSpPr txBox="1"/>
          <p:nvPr/>
        </p:nvSpPr>
        <p:spPr>
          <a:xfrm>
            <a:off x="1522382" y="7053263"/>
            <a:ext cx="1485942" cy="32644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658" b="0" baseline="0" dirty="0">
                <a:solidFill>
                  <a:srgbClr val="2563EB"/>
                </a:solidFill>
                <a:latin typeface="Arial"/>
                <a:ea typeface="Yu Gothic"/>
                <a:cs typeface="Arial"/>
              </a:rPr>
              <a:t>S</a:t>
            </a:r>
            <a:r>
              <a:rPr lang="ja-JP" sz="1658" b="0" baseline="-25000" dirty="0">
                <a:solidFill>
                  <a:srgbClr val="2563EB"/>
                </a:solidFill>
                <a:latin typeface="Arial"/>
                <a:ea typeface="Yu Gothic"/>
                <a:cs typeface="Arial"/>
              </a:rPr>
              <a:t>proj</a:t>
            </a:r>
          </a:p>
        </p:txBody>
      </p:sp>
      <p:sp>
        <p:nvSpPr>
          <p:cNvPr id="44" name="043 文字 Send"/>
          <p:cNvSpPr txBox="1"/>
          <p:nvPr/>
        </p:nvSpPr>
        <p:spPr>
          <a:xfrm>
            <a:off x="4061706" y="7053263"/>
            <a:ext cx="5203231" cy="32644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658" b="0" baseline="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S</a:t>
            </a:r>
            <a:r>
              <a:rPr lang="ja-JP" sz="1658" b="0" baseline="-2500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end</a:t>
            </a:r>
          </a:p>
        </p:txBody>
      </p:sp>
      <p:sp>
        <p:nvSpPr>
          <p:cNvPr id="45" name="044 文字 Sgoal"/>
          <p:cNvSpPr txBox="1"/>
          <p:nvPr/>
        </p:nvSpPr>
        <p:spPr>
          <a:xfrm>
            <a:off x="7778299" y="7053263"/>
            <a:ext cx="1858298" cy="32644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658" b="0" baseline="0" dirty="0">
                <a:solidFill>
                  <a:srgbClr val="B91C1C"/>
                </a:solidFill>
                <a:latin typeface="Arial"/>
                <a:ea typeface="Yu Gothic"/>
                <a:cs typeface="Arial"/>
              </a:rPr>
              <a:t>S</a:t>
            </a:r>
            <a:r>
              <a:rPr lang="ja-JP" sz="1658" b="0" baseline="-25000" dirty="0">
                <a:solidFill>
                  <a:srgbClr val="B91C1C"/>
                </a:solidFill>
                <a:latin typeface="Arial"/>
                <a:ea typeface="Yu Gothic"/>
                <a:cs typeface="Arial"/>
              </a:rPr>
              <a:t>goal</a:t>
            </a:r>
          </a:p>
        </p:txBody>
      </p:sp>
      <p:sp>
        <p:nvSpPr>
          <p:cNvPr id="46" name="045 文字 Sgoal &gt; Send → 無効（b = 0）。終点への丸め・外挿はしない"/>
          <p:cNvSpPr txBox="1"/>
          <p:nvPr/>
        </p:nvSpPr>
        <p:spPr>
          <a:xfrm>
            <a:off x="828269" y="7362979"/>
            <a:ext cx="9985248" cy="32644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658" b="0" baseline="0" dirty="0">
                <a:solidFill>
                  <a:srgbClr val="B91C1C"/>
                </a:solidFill>
                <a:latin typeface="Arial"/>
                <a:ea typeface="Yu Gothic"/>
                <a:cs typeface="Arial"/>
              </a:rPr>
              <a:t>S</a:t>
            </a:r>
            <a:r>
              <a:rPr lang="ja-JP" sz="1658" b="0" baseline="-25000" dirty="0">
                <a:solidFill>
                  <a:srgbClr val="B91C1C"/>
                </a:solidFill>
                <a:latin typeface="Arial"/>
                <a:ea typeface="Yu Gothic"/>
                <a:cs typeface="Arial"/>
              </a:rPr>
              <a:t>goal</a:t>
            </a:r>
            <a:r>
              <a:rPr lang="ja-JP" sz="1658" b="0" baseline="0" dirty="0">
                <a:solidFill>
                  <a:srgbClr val="B91C1C"/>
                </a:solidFill>
                <a:latin typeface="Arial"/>
                <a:ea typeface="Yu Gothic"/>
                <a:cs typeface="Arial"/>
              </a:rPr>
              <a:t> &gt; S</a:t>
            </a:r>
            <a:r>
              <a:rPr lang="ja-JP" sz="1658" b="0" baseline="-25000" dirty="0">
                <a:solidFill>
                  <a:srgbClr val="B91C1C"/>
                </a:solidFill>
                <a:latin typeface="Arial"/>
                <a:ea typeface="Yu Gothic"/>
                <a:cs typeface="Arial"/>
              </a:rPr>
              <a:t>end</a:t>
            </a:r>
            <a:r>
              <a:rPr lang="ja-JP" sz="1658" b="0" baseline="0" dirty="0">
                <a:solidFill>
                  <a:srgbClr val="B91C1C"/>
                </a:solidFill>
                <a:latin typeface="Arial"/>
                <a:ea typeface="Yu Gothic"/>
                <a:cs typeface="Arial"/>
              </a:rPr>
              <a:t> → 無効（b = 0）。終点への丸め・外挿はしない。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ookahead_coordinat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白背景" descr="スライド全面の白背景"/>
          <p:cNvSpPr/>
          <p:nvPr/>
        </p:nvSpPr>
        <p:spPr>
          <a:xfrm>
            <a:off x="0" y="0"/>
            <a:ext cx="10972800" cy="822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/>
          <a:lstStyle/>
          <a:p>
            <a:endParaRPr lang="ja-JP" altLang="en-US"/>
          </a:p>
        </p:txBody>
      </p:sp>
      <p:sp>
        <p:nvSpPr>
          <p:cNvPr id="2" name="001 文字 1.5 座標変換：注視点を車体の前方・左方の成分で表す"/>
          <p:cNvSpPr txBox="1"/>
          <p:nvPr/>
        </p:nvSpPr>
        <p:spPr>
          <a:xfrm>
            <a:off x="811033" y="413627"/>
            <a:ext cx="9803958" cy="44368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2253" b="1" baseline="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1.5 座標変換：注視点を車体の前方・左方の成分で表す</a:t>
            </a:r>
          </a:p>
        </p:txBody>
      </p:sp>
      <p:sp>
        <p:nvSpPr>
          <p:cNvPr id="3" name="002 文字 左右の図は同じ p と q。例では xg &gt; 0、yg &gt; 0。"/>
          <p:cNvSpPr txBox="1"/>
          <p:nvPr/>
        </p:nvSpPr>
        <p:spPr>
          <a:xfrm>
            <a:off x="811033" y="837153"/>
            <a:ext cx="9803958" cy="3142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596" b="0" baseline="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左右の図は同じ p と q。例では x</a:t>
            </a:r>
            <a:r>
              <a:rPr lang="ja-JP" sz="1596" b="0" baseline="-2500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g</a:t>
            </a:r>
            <a:r>
              <a:rPr lang="ja-JP" sz="1596" b="0" baseline="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 &gt; 0、y</a:t>
            </a:r>
            <a:r>
              <a:rPr lang="ja-JP" sz="1596" b="0" baseline="-2500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g</a:t>
            </a:r>
            <a:r>
              <a:rPr lang="ja-JP" sz="1596" b="0" baseline="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 &gt; 0。</a:t>
            </a:r>
          </a:p>
        </p:txBody>
      </p:sp>
      <p:sp>
        <p:nvSpPr>
          <p:cNvPr id="4" name="003 説明枠"/>
          <p:cNvSpPr/>
          <p:nvPr/>
        </p:nvSpPr>
        <p:spPr>
          <a:xfrm>
            <a:off x="763325" y="1300038"/>
            <a:ext cx="5367130" cy="5009322"/>
          </a:xfrm>
          <a:prstGeom prst="roundRect">
            <a:avLst>
              <a:gd name="adj" fmla="val 2380"/>
            </a:avLst>
          </a:prstGeom>
          <a:solidFill>
            <a:srgbClr val="F8FAFC"/>
          </a:solidFill>
          <a:ln w="11927" cap="flat">
            <a:solidFill>
              <a:srgbClr val="CBD5E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004 説明枠"/>
          <p:cNvSpPr/>
          <p:nvPr/>
        </p:nvSpPr>
        <p:spPr>
          <a:xfrm>
            <a:off x="6321287" y="1300038"/>
            <a:ext cx="3888188" cy="5009322"/>
          </a:xfrm>
          <a:prstGeom prst="roundRect">
            <a:avLst>
              <a:gd name="adj" fmla="val 3067"/>
            </a:avLst>
          </a:prstGeom>
          <a:solidFill>
            <a:srgbClr val="F8FAFC"/>
          </a:solidFill>
          <a:ln w="11927" cap="flat">
            <a:solidFill>
              <a:srgbClr val="CBD5E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005 文字 world 座標"/>
          <p:cNvSpPr txBox="1"/>
          <p:nvPr/>
        </p:nvSpPr>
        <p:spPr>
          <a:xfrm>
            <a:off x="1001864" y="1459859"/>
            <a:ext cx="9613127" cy="3697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878" b="1" baseline="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world 座標</a:t>
            </a:r>
          </a:p>
        </p:txBody>
      </p:sp>
      <p:sp>
        <p:nvSpPr>
          <p:cNvPr id="7" name="006 文字 車体座標（p が原点）"/>
          <p:cNvSpPr txBox="1"/>
          <p:nvPr/>
        </p:nvSpPr>
        <p:spPr>
          <a:xfrm>
            <a:off x="6559826" y="1459859"/>
            <a:ext cx="4055165" cy="3697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878" b="1" baseline="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車体座標（p が原点）</a:t>
            </a:r>
          </a:p>
        </p:txBody>
      </p:sp>
      <p:sp>
        <p:nvSpPr>
          <p:cNvPr id="8" name="007 経路・補助線"/>
          <p:cNvSpPr/>
          <p:nvPr/>
        </p:nvSpPr>
        <p:spPr>
          <a:xfrm>
            <a:off x="1252330" y="2027583"/>
            <a:ext cx="4436828" cy="3756991"/>
          </a:xfrm>
          <a:custGeom>
            <a:avLst/>
            <a:gdLst/>
            <a:ahLst/>
            <a:cxnLst/>
            <a:rect l="l" t="t" r="r" b="b"/>
            <a:pathLst>
              <a:path w="4436828" h="3756991" fill="none" extrusionOk="0">
                <a:moveTo>
                  <a:pt x="0" y="3756991"/>
                </a:moveTo>
                <a:lnTo>
                  <a:pt x="4436828" y="3756991"/>
                </a:lnTo>
                <a:moveTo>
                  <a:pt x="0" y="3756991"/>
                </a:moveTo>
                <a:lnTo>
                  <a:pt x="0" y="0"/>
                </a:lnTo>
              </a:path>
            </a:pathLst>
          </a:custGeom>
          <a:noFill/>
          <a:ln w="17890" cap="flat">
            <a:solidFill>
              <a:srgbClr val="64748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008 矢印先端"/>
          <p:cNvSpPr/>
          <p:nvPr/>
        </p:nvSpPr>
        <p:spPr>
          <a:xfrm>
            <a:off x="5592550" y="5730903"/>
            <a:ext cx="107343" cy="107343"/>
          </a:xfrm>
          <a:custGeom>
            <a:avLst/>
            <a:gdLst/>
            <a:ahLst/>
            <a:cxnLst/>
            <a:rect l="l" t="t" r="r" b="b"/>
            <a:pathLst>
              <a:path w="107343" h="107343" stroke="0" extrusionOk="0">
                <a:moveTo>
                  <a:pt x="0" y="0"/>
                </a:moveTo>
                <a:lnTo>
                  <a:pt x="107343" y="53671"/>
                </a:lnTo>
                <a:lnTo>
                  <a:pt x="0" y="107343"/>
                </a:lnTo>
                <a:close/>
              </a:path>
            </a:pathLst>
          </a:custGeom>
          <a:solidFill>
            <a:srgbClr val="64748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009 矢印先端"/>
          <p:cNvSpPr/>
          <p:nvPr/>
        </p:nvSpPr>
        <p:spPr>
          <a:xfrm>
            <a:off x="1198659" y="2016848"/>
            <a:ext cx="107343" cy="107343"/>
          </a:xfrm>
          <a:custGeom>
            <a:avLst/>
            <a:gdLst/>
            <a:ahLst/>
            <a:cxnLst/>
            <a:rect l="l" t="t" r="r" b="b"/>
            <a:pathLst>
              <a:path w="107343" h="107343" stroke="0" extrusionOk="0">
                <a:moveTo>
                  <a:pt x="0" y="107343"/>
                </a:moveTo>
                <a:lnTo>
                  <a:pt x="53671" y="0"/>
                </a:lnTo>
                <a:lnTo>
                  <a:pt x="107343" y="107343"/>
                </a:lnTo>
                <a:close/>
              </a:path>
            </a:pathLst>
          </a:custGeom>
          <a:solidFill>
            <a:srgbClr val="64748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010 文字 world の +x"/>
          <p:cNvSpPr txBox="1"/>
          <p:nvPr/>
        </p:nvSpPr>
        <p:spPr>
          <a:xfrm>
            <a:off x="4615732" y="5906110"/>
            <a:ext cx="5999259" cy="3142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596" b="0" baseline="0" dirty="0">
                <a:solidFill>
                  <a:srgbClr val="64748B"/>
                </a:solidFill>
                <a:latin typeface="Arial"/>
                <a:ea typeface="Yu Gothic"/>
                <a:cs typeface="Arial"/>
              </a:rPr>
              <a:t>world の +x</a:t>
            </a:r>
          </a:p>
        </p:txBody>
      </p:sp>
      <p:sp>
        <p:nvSpPr>
          <p:cNvPr id="12" name="011 文字 world の +y"/>
          <p:cNvSpPr txBox="1"/>
          <p:nvPr/>
        </p:nvSpPr>
        <p:spPr>
          <a:xfrm>
            <a:off x="1431235" y="1886725"/>
            <a:ext cx="9183757" cy="3142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596" b="0" baseline="0" dirty="0">
                <a:solidFill>
                  <a:srgbClr val="64748B"/>
                </a:solidFill>
                <a:latin typeface="Arial"/>
                <a:ea typeface="Yu Gothic"/>
                <a:cs typeface="Arial"/>
              </a:rPr>
              <a:t>world の +y</a:t>
            </a:r>
          </a:p>
        </p:txBody>
      </p:sp>
      <p:sp>
        <p:nvSpPr>
          <p:cNvPr id="13" name="012 車体"/>
          <p:cNvSpPr/>
          <p:nvPr/>
        </p:nvSpPr>
        <p:spPr>
          <a:xfrm rot="19800000">
            <a:off x="2218414" y="4663440"/>
            <a:ext cx="811033" cy="405517"/>
          </a:xfrm>
          <a:prstGeom prst="roundRect">
            <a:avLst>
              <a:gd name="adj" fmla="val 20588"/>
            </a:avLst>
          </a:prstGeom>
          <a:solidFill>
            <a:srgbClr val="FEF3C7"/>
          </a:solidFill>
          <a:ln w="17890" cap="flat">
            <a:solidFill>
              <a:srgbClr val="B4530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013 経路・補助線"/>
          <p:cNvSpPr/>
          <p:nvPr/>
        </p:nvSpPr>
        <p:spPr>
          <a:xfrm>
            <a:off x="2745853" y="4671858"/>
            <a:ext cx="146633" cy="185923"/>
          </a:xfrm>
          <a:custGeom>
            <a:avLst/>
            <a:gdLst/>
            <a:ahLst/>
            <a:cxnLst/>
            <a:rect l="l" t="t" r="r" b="b"/>
            <a:pathLst>
              <a:path w="146633" h="185923" fill="none" extrusionOk="0">
                <a:moveTo>
                  <a:pt x="0" y="0"/>
                </a:moveTo>
                <a:lnTo>
                  <a:pt x="146633" y="39290"/>
                </a:lnTo>
                <a:lnTo>
                  <a:pt x="107343" y="185923"/>
                </a:lnTo>
              </a:path>
            </a:pathLst>
          </a:custGeom>
          <a:noFill/>
          <a:ln w="17890" cap="flat">
            <a:solidFill>
              <a:srgbClr val="B4530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014 経路・補助線"/>
          <p:cNvSpPr/>
          <p:nvPr/>
        </p:nvSpPr>
        <p:spPr>
          <a:xfrm>
            <a:off x="2623930" y="3282418"/>
            <a:ext cx="2743200" cy="1583781"/>
          </a:xfrm>
          <a:custGeom>
            <a:avLst/>
            <a:gdLst/>
            <a:ahLst/>
            <a:cxnLst/>
            <a:rect l="l" t="t" r="r" b="b"/>
            <a:pathLst>
              <a:path w="2743200" h="1583781" fill="none" extrusionOk="0">
                <a:moveTo>
                  <a:pt x="0" y="1583781"/>
                </a:moveTo>
                <a:lnTo>
                  <a:pt x="2743200" y="0"/>
                </a:lnTo>
              </a:path>
            </a:pathLst>
          </a:custGeom>
          <a:noFill/>
          <a:ln w="23854" cap="flat">
            <a:solidFill>
              <a:srgbClr val="2563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015 矢印先端"/>
          <p:cNvSpPr/>
          <p:nvPr/>
        </p:nvSpPr>
        <p:spPr>
          <a:xfrm>
            <a:off x="5219796" y="3275262"/>
            <a:ext cx="159729" cy="133536"/>
          </a:xfrm>
          <a:custGeom>
            <a:avLst/>
            <a:gdLst/>
            <a:ahLst/>
            <a:cxnLst/>
            <a:rect l="l" t="t" r="r" b="b"/>
            <a:pathLst>
              <a:path w="159729" h="133536" stroke="0" extrusionOk="0">
                <a:moveTo>
                  <a:pt x="0" y="9587"/>
                </a:moveTo>
                <a:lnTo>
                  <a:pt x="159729" y="0"/>
                </a:lnTo>
                <a:lnTo>
                  <a:pt x="71562" y="133536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016 経路・補助線"/>
          <p:cNvSpPr/>
          <p:nvPr/>
        </p:nvSpPr>
        <p:spPr>
          <a:xfrm>
            <a:off x="1490870" y="2903737"/>
            <a:ext cx="1133061" cy="1962461"/>
          </a:xfrm>
          <a:custGeom>
            <a:avLst/>
            <a:gdLst/>
            <a:ahLst/>
            <a:cxnLst/>
            <a:rect l="l" t="t" r="r" b="b"/>
            <a:pathLst>
              <a:path w="1133061" h="1962461" fill="none" extrusionOk="0">
                <a:moveTo>
                  <a:pt x="1133061" y="1962461"/>
                </a:moveTo>
                <a:lnTo>
                  <a:pt x="0" y="0"/>
                </a:lnTo>
              </a:path>
            </a:pathLst>
          </a:custGeom>
          <a:noFill/>
          <a:ln w="23854" cap="flat">
            <a:solidFill>
              <a:srgbClr val="0F766E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017 矢印先端"/>
          <p:cNvSpPr/>
          <p:nvPr/>
        </p:nvSpPr>
        <p:spPr>
          <a:xfrm>
            <a:off x="1483713" y="2891342"/>
            <a:ext cx="133537" cy="159729"/>
          </a:xfrm>
          <a:custGeom>
            <a:avLst/>
            <a:gdLst/>
            <a:ahLst/>
            <a:cxnLst/>
            <a:rect l="l" t="t" r="r" b="b"/>
            <a:pathLst>
              <a:path w="133537" h="159729" stroke="0" extrusionOk="0">
                <a:moveTo>
                  <a:pt x="9589" y="159729"/>
                </a:moveTo>
                <a:lnTo>
                  <a:pt x="0" y="0"/>
                </a:lnTo>
                <a:lnTo>
                  <a:pt x="133537" y="88166"/>
                </a:lnTo>
                <a:close/>
              </a:path>
            </a:pathLst>
          </a:custGeom>
          <a:solidFill>
            <a:srgbClr val="0F766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018 文字 +x / 前方 f"/>
          <p:cNvSpPr txBox="1"/>
          <p:nvPr/>
        </p:nvSpPr>
        <p:spPr>
          <a:xfrm>
            <a:off x="4472609" y="2912444"/>
            <a:ext cx="6142383" cy="3142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596" b="0" baseline="0" dirty="0">
                <a:solidFill>
                  <a:srgbClr val="2563EB"/>
                </a:solidFill>
                <a:latin typeface="Arial"/>
                <a:ea typeface="Yu Gothic"/>
                <a:cs typeface="Arial"/>
              </a:rPr>
              <a:t>+x / 前方 f</a:t>
            </a:r>
          </a:p>
        </p:txBody>
      </p:sp>
      <p:sp>
        <p:nvSpPr>
          <p:cNvPr id="20" name="019 文字 +y / 左方 l"/>
          <p:cNvSpPr txBox="1"/>
          <p:nvPr/>
        </p:nvSpPr>
        <p:spPr>
          <a:xfrm>
            <a:off x="1478943" y="2447292"/>
            <a:ext cx="9136049" cy="3142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596" b="0" baseline="0" dirty="0">
                <a:solidFill>
                  <a:srgbClr val="0F766E"/>
                </a:solidFill>
                <a:latin typeface="Arial"/>
                <a:ea typeface="Yu Gothic"/>
                <a:cs typeface="Arial"/>
              </a:rPr>
              <a:t>+y / 左方 l</a:t>
            </a:r>
          </a:p>
        </p:txBody>
      </p:sp>
      <p:sp>
        <p:nvSpPr>
          <p:cNvPr id="21" name="020 経路・補助線"/>
          <p:cNvSpPr/>
          <p:nvPr/>
        </p:nvSpPr>
        <p:spPr>
          <a:xfrm>
            <a:off x="2623930" y="4866198"/>
            <a:ext cx="1156915" cy="1"/>
          </a:xfrm>
          <a:custGeom>
            <a:avLst/>
            <a:gdLst/>
            <a:ahLst/>
            <a:cxnLst/>
            <a:rect l="l" t="t" r="r" b="b"/>
            <a:pathLst>
              <a:path w="1156915" h="1" fill="none" extrusionOk="0">
                <a:moveTo>
                  <a:pt x="0" y="0"/>
                </a:moveTo>
                <a:lnTo>
                  <a:pt x="1156915" y="0"/>
                </a:lnTo>
              </a:path>
            </a:pathLst>
          </a:custGeom>
          <a:noFill/>
          <a:ln w="17890" cap="flat">
            <a:solidFill>
              <a:srgbClr val="94A3B8"/>
            </a:solidFill>
            <a:custDash>
              <a:ds d="333333" sp="333333"/>
            </a:custDash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021 経路・補助線"/>
          <p:cNvSpPr/>
          <p:nvPr/>
        </p:nvSpPr>
        <p:spPr>
          <a:xfrm>
            <a:off x="3243655" y="4508390"/>
            <a:ext cx="95893" cy="357809"/>
          </a:xfrm>
          <a:custGeom>
            <a:avLst/>
            <a:gdLst/>
            <a:ahLst/>
            <a:cxnLst/>
            <a:rect l="l" t="t" r="r" b="b"/>
            <a:pathLst>
              <a:path w="95893" h="357809" fill="none" extrusionOk="0">
                <a:moveTo>
                  <a:pt x="95893" y="357809"/>
                </a:moveTo>
                <a:cubicBezTo>
                  <a:pt x="95890" y="295269"/>
                  <a:pt x="87689" y="233000"/>
                  <a:pt x="71500" y="172592"/>
                </a:cubicBezTo>
                <a:cubicBezTo>
                  <a:pt x="55311" y="112184"/>
                  <a:pt x="31272" y="54159"/>
                  <a:pt x="0" y="0"/>
                </a:cubicBezTo>
              </a:path>
            </a:pathLst>
          </a:custGeom>
          <a:noFill/>
          <a:ln w="17890" cap="flat">
            <a:solidFill>
              <a:srgbClr val="64748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022 矢印先端"/>
          <p:cNvSpPr/>
          <p:nvPr/>
        </p:nvSpPr>
        <p:spPr>
          <a:xfrm>
            <a:off x="3238288" y="4499094"/>
            <a:ext cx="100155" cy="119797"/>
          </a:xfrm>
          <a:custGeom>
            <a:avLst/>
            <a:gdLst/>
            <a:ahLst/>
            <a:cxnLst/>
            <a:rect l="l" t="t" r="r" b="b"/>
            <a:pathLst>
              <a:path w="100155" h="119797" stroke="0" extrusionOk="0">
                <a:moveTo>
                  <a:pt x="7196" y="119797"/>
                </a:moveTo>
                <a:lnTo>
                  <a:pt x="0" y="0"/>
                </a:lnTo>
                <a:lnTo>
                  <a:pt x="100155" y="66121"/>
                </a:lnTo>
                <a:close/>
              </a:path>
            </a:pathLst>
          </a:custGeom>
          <a:solidFill>
            <a:srgbClr val="64748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023 文字 ψ"/>
          <p:cNvSpPr txBox="1"/>
          <p:nvPr/>
        </p:nvSpPr>
        <p:spPr>
          <a:xfrm>
            <a:off x="3506525" y="4525087"/>
            <a:ext cx="7108466" cy="3697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878" b="0" baseline="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ψ</a:t>
            </a:r>
          </a:p>
        </p:txBody>
      </p:sp>
      <p:sp>
        <p:nvSpPr>
          <p:cNvPr id="25" name="024 経路・補助線"/>
          <p:cNvSpPr/>
          <p:nvPr/>
        </p:nvSpPr>
        <p:spPr>
          <a:xfrm>
            <a:off x="1967948" y="2656610"/>
            <a:ext cx="2515157" cy="1136162"/>
          </a:xfrm>
          <a:custGeom>
            <a:avLst/>
            <a:gdLst/>
            <a:ahLst/>
            <a:cxnLst/>
            <a:rect l="l" t="t" r="r" b="b"/>
            <a:pathLst>
              <a:path w="2515157" h="1136162" fill="none" extrusionOk="0">
                <a:moveTo>
                  <a:pt x="2515157" y="1136162"/>
                </a:moveTo>
                <a:lnTo>
                  <a:pt x="1859174" y="0"/>
                </a:lnTo>
                <a:lnTo>
                  <a:pt x="0" y="1073426"/>
                </a:lnTo>
              </a:path>
            </a:pathLst>
          </a:custGeom>
          <a:noFill/>
          <a:ln w="17890" cap="flat">
            <a:solidFill>
              <a:srgbClr val="94A3B8"/>
            </a:solidFill>
            <a:custDash>
              <a:ds d="333333" sp="333333"/>
            </a:custDash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025 経路・補助線"/>
          <p:cNvSpPr/>
          <p:nvPr/>
        </p:nvSpPr>
        <p:spPr>
          <a:xfrm>
            <a:off x="2623930" y="3792772"/>
            <a:ext cx="1859174" cy="1073426"/>
          </a:xfrm>
          <a:custGeom>
            <a:avLst/>
            <a:gdLst/>
            <a:ahLst/>
            <a:cxnLst/>
            <a:rect l="l" t="t" r="r" b="b"/>
            <a:pathLst>
              <a:path w="1859174" h="1073426" fill="none" extrusionOk="0">
                <a:moveTo>
                  <a:pt x="0" y="1073426"/>
                </a:moveTo>
                <a:lnTo>
                  <a:pt x="1859174" y="0"/>
                </a:lnTo>
              </a:path>
            </a:pathLst>
          </a:custGeom>
          <a:noFill/>
          <a:ln w="47708" cap="flat">
            <a:solidFill>
              <a:srgbClr val="2563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026 経路・補助線"/>
          <p:cNvSpPr/>
          <p:nvPr/>
        </p:nvSpPr>
        <p:spPr>
          <a:xfrm>
            <a:off x="1967948" y="3730036"/>
            <a:ext cx="655983" cy="1136162"/>
          </a:xfrm>
          <a:custGeom>
            <a:avLst/>
            <a:gdLst/>
            <a:ahLst/>
            <a:cxnLst/>
            <a:rect l="l" t="t" r="r" b="b"/>
            <a:pathLst>
              <a:path w="655983" h="1136162" fill="none" extrusionOk="0">
                <a:moveTo>
                  <a:pt x="655983" y="1136162"/>
                </a:moveTo>
                <a:lnTo>
                  <a:pt x="0" y="0"/>
                </a:lnTo>
              </a:path>
            </a:pathLst>
          </a:custGeom>
          <a:noFill/>
          <a:ln w="47708" cap="flat">
            <a:solidFill>
              <a:srgbClr val="0F766E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027 文字 xg"/>
          <p:cNvSpPr txBox="1"/>
          <p:nvPr/>
        </p:nvSpPr>
        <p:spPr>
          <a:xfrm>
            <a:off x="3697357" y="4226913"/>
            <a:ext cx="6917635" cy="3697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878" b="0" baseline="0" dirty="0">
                <a:solidFill>
                  <a:srgbClr val="2563EB"/>
                </a:solidFill>
                <a:latin typeface="Arial"/>
                <a:ea typeface="Yu Gothic"/>
                <a:cs typeface="Arial"/>
              </a:rPr>
              <a:t>x</a:t>
            </a:r>
            <a:r>
              <a:rPr lang="ja-JP" sz="1878" b="0" baseline="-25000" dirty="0">
                <a:solidFill>
                  <a:srgbClr val="2563EB"/>
                </a:solidFill>
                <a:latin typeface="Arial"/>
                <a:ea typeface="Yu Gothic"/>
                <a:cs typeface="Arial"/>
              </a:rPr>
              <a:t>g</a:t>
            </a:r>
          </a:p>
        </p:txBody>
      </p:sp>
      <p:sp>
        <p:nvSpPr>
          <p:cNvPr id="29" name="028 文字 yg"/>
          <p:cNvSpPr txBox="1"/>
          <p:nvPr/>
        </p:nvSpPr>
        <p:spPr>
          <a:xfrm>
            <a:off x="1622066" y="4071863"/>
            <a:ext cx="8992925" cy="3697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878" b="0" baseline="0" dirty="0">
                <a:solidFill>
                  <a:srgbClr val="0F766E"/>
                </a:solidFill>
                <a:latin typeface="Arial"/>
                <a:ea typeface="Yu Gothic"/>
                <a:cs typeface="Arial"/>
              </a:rPr>
              <a:t>y</a:t>
            </a:r>
            <a:r>
              <a:rPr lang="ja-JP" sz="1878" b="0" baseline="-25000" dirty="0">
                <a:solidFill>
                  <a:srgbClr val="0F766E"/>
                </a:solidFill>
                <a:latin typeface="Arial"/>
                <a:ea typeface="Yu Gothic"/>
                <a:cs typeface="Arial"/>
              </a:rPr>
              <a:t>g</a:t>
            </a:r>
          </a:p>
        </p:txBody>
      </p:sp>
      <p:sp>
        <p:nvSpPr>
          <p:cNvPr id="30" name="029 経路・補助線"/>
          <p:cNvSpPr/>
          <p:nvPr/>
        </p:nvSpPr>
        <p:spPr>
          <a:xfrm>
            <a:off x="2623930" y="2656610"/>
            <a:ext cx="1203191" cy="2209588"/>
          </a:xfrm>
          <a:custGeom>
            <a:avLst/>
            <a:gdLst/>
            <a:ahLst/>
            <a:cxnLst/>
            <a:rect l="l" t="t" r="r" b="b"/>
            <a:pathLst>
              <a:path w="1203191" h="2209588" fill="none" extrusionOk="0">
                <a:moveTo>
                  <a:pt x="0" y="2209588"/>
                </a:moveTo>
                <a:lnTo>
                  <a:pt x="1203191" y="0"/>
                </a:lnTo>
              </a:path>
            </a:pathLst>
          </a:custGeom>
          <a:noFill/>
          <a:ln w="29817" cap="flat">
            <a:solidFill>
              <a:srgbClr val="B4530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030 矢印先端"/>
          <p:cNvSpPr/>
          <p:nvPr/>
        </p:nvSpPr>
        <p:spPr>
          <a:xfrm>
            <a:off x="3671560" y="2640898"/>
            <a:ext cx="164117" cy="199899"/>
          </a:xfrm>
          <a:custGeom>
            <a:avLst/>
            <a:gdLst/>
            <a:ahLst/>
            <a:cxnLst/>
            <a:rect l="l" t="t" r="r" b="b"/>
            <a:pathLst>
              <a:path w="164117" h="199899" stroke="0" extrusionOk="0">
                <a:moveTo>
                  <a:pt x="0" y="114342"/>
                </a:moveTo>
                <a:lnTo>
                  <a:pt x="164117" y="0"/>
                </a:lnTo>
                <a:lnTo>
                  <a:pt x="157120" y="199899"/>
                </a:lnTo>
                <a:close/>
              </a:path>
            </a:pathLst>
          </a:cu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031 文字 Δ"/>
          <p:cNvSpPr txBox="1"/>
          <p:nvPr/>
        </p:nvSpPr>
        <p:spPr>
          <a:xfrm>
            <a:off x="3411110" y="3403953"/>
            <a:ext cx="7203882" cy="3697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878" b="0" baseline="0" dirty="0">
                <a:solidFill>
                  <a:srgbClr val="B45309"/>
                </a:solidFill>
                <a:latin typeface="Arial"/>
                <a:ea typeface="Yu Gothic"/>
                <a:cs typeface="Arial"/>
              </a:rPr>
              <a:t>Δ</a:t>
            </a:r>
          </a:p>
        </p:txBody>
      </p:sp>
      <p:sp>
        <p:nvSpPr>
          <p:cNvPr id="33" name="032 点"/>
          <p:cNvSpPr/>
          <p:nvPr/>
        </p:nvSpPr>
        <p:spPr>
          <a:xfrm>
            <a:off x="2564296" y="4806563"/>
            <a:ext cx="119270" cy="119270"/>
          </a:xfrm>
          <a:prstGeom prst="ellipse">
            <a:avLst/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033 点"/>
          <p:cNvSpPr/>
          <p:nvPr/>
        </p:nvSpPr>
        <p:spPr>
          <a:xfrm>
            <a:off x="3767487" y="2596976"/>
            <a:ext cx="119270" cy="11927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034 文字 p"/>
          <p:cNvSpPr txBox="1"/>
          <p:nvPr/>
        </p:nvSpPr>
        <p:spPr>
          <a:xfrm>
            <a:off x="2361537" y="5085654"/>
            <a:ext cx="8253454" cy="3697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878" b="0" baseline="0" dirty="0">
                <a:solidFill>
                  <a:srgbClr val="B45309"/>
                </a:solidFill>
                <a:latin typeface="Arial"/>
                <a:ea typeface="Yu Gothic"/>
                <a:cs typeface="Arial"/>
              </a:rPr>
              <a:t>p</a:t>
            </a:r>
          </a:p>
        </p:txBody>
      </p:sp>
      <p:sp>
        <p:nvSpPr>
          <p:cNvPr id="36" name="035 文字 q"/>
          <p:cNvSpPr txBox="1"/>
          <p:nvPr/>
        </p:nvSpPr>
        <p:spPr>
          <a:xfrm>
            <a:off x="3971677" y="2354381"/>
            <a:ext cx="6643315" cy="3697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878" b="0" baseline="0" dirty="0">
                <a:solidFill>
                  <a:srgbClr val="0F766E"/>
                </a:solidFill>
                <a:latin typeface="Arial"/>
                <a:ea typeface="Yu Gothic"/>
                <a:cs typeface="Arial"/>
              </a:rPr>
              <a:t>q</a:t>
            </a:r>
          </a:p>
        </p:txBody>
      </p:sp>
      <p:sp>
        <p:nvSpPr>
          <p:cNvPr id="37" name="036 経路・補助線"/>
          <p:cNvSpPr/>
          <p:nvPr/>
        </p:nvSpPr>
        <p:spPr>
          <a:xfrm>
            <a:off x="7036904" y="4949687"/>
            <a:ext cx="2874397" cy="1"/>
          </a:xfrm>
          <a:custGeom>
            <a:avLst/>
            <a:gdLst/>
            <a:ahLst/>
            <a:cxnLst/>
            <a:rect l="l" t="t" r="r" b="b"/>
            <a:pathLst>
              <a:path w="2874397" h="1" fill="none" extrusionOk="0">
                <a:moveTo>
                  <a:pt x="0" y="0"/>
                </a:moveTo>
                <a:lnTo>
                  <a:pt x="2874397" y="0"/>
                </a:lnTo>
              </a:path>
            </a:pathLst>
          </a:custGeom>
          <a:noFill/>
          <a:ln w="23854" cap="flat">
            <a:solidFill>
              <a:srgbClr val="2563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037 矢印先端"/>
          <p:cNvSpPr/>
          <p:nvPr/>
        </p:nvSpPr>
        <p:spPr>
          <a:xfrm>
            <a:off x="9782490" y="4878125"/>
            <a:ext cx="143123" cy="143123"/>
          </a:xfrm>
          <a:custGeom>
            <a:avLst/>
            <a:gdLst/>
            <a:ahLst/>
            <a:cxnLst/>
            <a:rect l="l" t="t" r="r" b="b"/>
            <a:pathLst>
              <a:path w="143123" h="143123" stroke="0" extrusionOk="0">
                <a:moveTo>
                  <a:pt x="0" y="0"/>
                </a:moveTo>
                <a:lnTo>
                  <a:pt x="143123" y="71562"/>
                </a:lnTo>
                <a:lnTo>
                  <a:pt x="0" y="143123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038 経路・補助線"/>
          <p:cNvSpPr/>
          <p:nvPr/>
        </p:nvSpPr>
        <p:spPr>
          <a:xfrm>
            <a:off x="7036904" y="2111071"/>
            <a:ext cx="1" cy="2838616"/>
          </a:xfrm>
          <a:custGeom>
            <a:avLst/>
            <a:gdLst/>
            <a:ahLst/>
            <a:cxnLst/>
            <a:rect l="l" t="t" r="r" b="b"/>
            <a:pathLst>
              <a:path w="1" h="2838616" fill="none" extrusionOk="0">
                <a:moveTo>
                  <a:pt x="0" y="2838616"/>
                </a:moveTo>
                <a:lnTo>
                  <a:pt x="0" y="0"/>
                </a:lnTo>
              </a:path>
            </a:pathLst>
          </a:custGeom>
          <a:noFill/>
          <a:ln w="23854" cap="flat">
            <a:solidFill>
              <a:srgbClr val="0F766E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039 矢印先端"/>
          <p:cNvSpPr/>
          <p:nvPr/>
        </p:nvSpPr>
        <p:spPr>
          <a:xfrm>
            <a:off x="6965343" y="2096759"/>
            <a:ext cx="143123" cy="143123"/>
          </a:xfrm>
          <a:custGeom>
            <a:avLst/>
            <a:gdLst/>
            <a:ahLst/>
            <a:cxnLst/>
            <a:rect l="l" t="t" r="r" b="b"/>
            <a:pathLst>
              <a:path w="143123" h="143123" stroke="0" extrusionOk="0">
                <a:moveTo>
                  <a:pt x="0" y="143123"/>
                </a:moveTo>
                <a:lnTo>
                  <a:pt x="71562" y="0"/>
                </a:lnTo>
                <a:lnTo>
                  <a:pt x="143123" y="143123"/>
                </a:lnTo>
                <a:close/>
              </a:path>
            </a:pathLst>
          </a:custGeom>
          <a:solidFill>
            <a:srgbClr val="0F766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040 文字 +x / 前方"/>
          <p:cNvSpPr txBox="1"/>
          <p:nvPr/>
        </p:nvSpPr>
        <p:spPr>
          <a:xfrm>
            <a:off x="8980998" y="5488666"/>
            <a:ext cx="1633993" cy="3142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596" b="0" baseline="0" dirty="0">
                <a:solidFill>
                  <a:srgbClr val="2563EB"/>
                </a:solidFill>
                <a:latin typeface="Arial"/>
                <a:ea typeface="Yu Gothic"/>
                <a:cs typeface="Arial"/>
              </a:rPr>
              <a:t>+x / 前方</a:t>
            </a:r>
          </a:p>
        </p:txBody>
      </p:sp>
      <p:sp>
        <p:nvSpPr>
          <p:cNvPr id="42" name="041 文字 +y / 左方"/>
          <p:cNvSpPr txBox="1"/>
          <p:nvPr/>
        </p:nvSpPr>
        <p:spPr>
          <a:xfrm>
            <a:off x="7203882" y="2089484"/>
            <a:ext cx="3411110" cy="3142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596" b="0" baseline="0" dirty="0">
                <a:solidFill>
                  <a:srgbClr val="0F766E"/>
                </a:solidFill>
                <a:latin typeface="Arial"/>
                <a:ea typeface="Yu Gothic"/>
                <a:cs typeface="Arial"/>
              </a:rPr>
              <a:t>+y / 左方</a:t>
            </a:r>
          </a:p>
        </p:txBody>
      </p:sp>
      <p:sp>
        <p:nvSpPr>
          <p:cNvPr id="43" name="042 経路・補助線"/>
          <p:cNvSpPr/>
          <p:nvPr/>
        </p:nvSpPr>
        <p:spPr>
          <a:xfrm>
            <a:off x="7036904" y="3637722"/>
            <a:ext cx="2146852" cy="1311965"/>
          </a:xfrm>
          <a:custGeom>
            <a:avLst/>
            <a:gdLst/>
            <a:ahLst/>
            <a:cxnLst/>
            <a:rect l="l" t="t" r="r" b="b"/>
            <a:pathLst>
              <a:path w="2146852" h="1311965" fill="none" extrusionOk="0">
                <a:moveTo>
                  <a:pt x="2146852" y="1311965"/>
                </a:moveTo>
                <a:lnTo>
                  <a:pt x="2146852" y="0"/>
                </a:lnTo>
                <a:lnTo>
                  <a:pt x="0" y="0"/>
                </a:lnTo>
              </a:path>
            </a:pathLst>
          </a:custGeom>
          <a:noFill/>
          <a:ln w="17890" cap="flat">
            <a:solidFill>
              <a:srgbClr val="94A3B8"/>
            </a:solidFill>
            <a:custDash>
              <a:ds d="333333" sp="333333"/>
            </a:custDash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043 経路・補助線"/>
          <p:cNvSpPr/>
          <p:nvPr/>
        </p:nvSpPr>
        <p:spPr>
          <a:xfrm>
            <a:off x="7036904" y="4949687"/>
            <a:ext cx="2146852" cy="1"/>
          </a:xfrm>
          <a:custGeom>
            <a:avLst/>
            <a:gdLst/>
            <a:ahLst/>
            <a:cxnLst/>
            <a:rect l="l" t="t" r="r" b="b"/>
            <a:pathLst>
              <a:path w="2146852" h="1" fill="none" extrusionOk="0">
                <a:moveTo>
                  <a:pt x="0" y="0"/>
                </a:moveTo>
                <a:lnTo>
                  <a:pt x="2146852" y="0"/>
                </a:lnTo>
              </a:path>
            </a:pathLst>
          </a:custGeom>
          <a:noFill/>
          <a:ln w="47708" cap="flat">
            <a:solidFill>
              <a:srgbClr val="2563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044 経路・補助線"/>
          <p:cNvSpPr/>
          <p:nvPr/>
        </p:nvSpPr>
        <p:spPr>
          <a:xfrm>
            <a:off x="7036904" y="3637722"/>
            <a:ext cx="1" cy="1311965"/>
          </a:xfrm>
          <a:custGeom>
            <a:avLst/>
            <a:gdLst/>
            <a:ahLst/>
            <a:cxnLst/>
            <a:rect l="l" t="t" r="r" b="b"/>
            <a:pathLst>
              <a:path w="1" h="1311965" fill="none" extrusionOk="0">
                <a:moveTo>
                  <a:pt x="0" y="1311965"/>
                </a:moveTo>
                <a:lnTo>
                  <a:pt x="0" y="0"/>
                </a:lnTo>
              </a:path>
            </a:pathLst>
          </a:custGeom>
          <a:noFill/>
          <a:ln w="47708" cap="flat">
            <a:solidFill>
              <a:srgbClr val="0F766E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045 文字 xg"/>
          <p:cNvSpPr txBox="1"/>
          <p:nvPr/>
        </p:nvSpPr>
        <p:spPr>
          <a:xfrm>
            <a:off x="6679096" y="5085654"/>
            <a:ext cx="5009322" cy="3697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878" b="0" baseline="0" dirty="0">
                <a:solidFill>
                  <a:srgbClr val="2563EB"/>
                </a:solidFill>
                <a:latin typeface="Arial"/>
                <a:ea typeface="Yu Gothic"/>
                <a:cs typeface="Arial"/>
              </a:rPr>
              <a:t>x</a:t>
            </a:r>
            <a:r>
              <a:rPr lang="ja-JP" sz="1878" b="0" baseline="-25000" dirty="0">
                <a:solidFill>
                  <a:srgbClr val="2563EB"/>
                </a:solidFill>
                <a:latin typeface="Arial"/>
                <a:ea typeface="Yu Gothic"/>
                <a:cs typeface="Arial"/>
              </a:rPr>
              <a:t>g</a:t>
            </a:r>
          </a:p>
        </p:txBody>
      </p:sp>
      <p:sp>
        <p:nvSpPr>
          <p:cNvPr id="47" name="046 文字 yg"/>
          <p:cNvSpPr txBox="1"/>
          <p:nvPr/>
        </p:nvSpPr>
        <p:spPr>
          <a:xfrm>
            <a:off x="6452483" y="3475515"/>
            <a:ext cx="4162508" cy="3697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878" b="0" baseline="0" dirty="0">
                <a:solidFill>
                  <a:srgbClr val="0F766E"/>
                </a:solidFill>
                <a:latin typeface="Arial"/>
                <a:ea typeface="Yu Gothic"/>
                <a:cs typeface="Arial"/>
              </a:rPr>
              <a:t>y</a:t>
            </a:r>
            <a:r>
              <a:rPr lang="ja-JP" sz="1878" b="0" baseline="-25000" dirty="0">
                <a:solidFill>
                  <a:srgbClr val="0F766E"/>
                </a:solidFill>
                <a:latin typeface="Arial"/>
                <a:ea typeface="Yu Gothic"/>
                <a:cs typeface="Arial"/>
              </a:rPr>
              <a:t>g</a:t>
            </a:r>
          </a:p>
        </p:txBody>
      </p:sp>
      <p:sp>
        <p:nvSpPr>
          <p:cNvPr id="48" name="047 経路・補助線"/>
          <p:cNvSpPr/>
          <p:nvPr/>
        </p:nvSpPr>
        <p:spPr>
          <a:xfrm>
            <a:off x="7036904" y="3637722"/>
            <a:ext cx="2146852" cy="1311965"/>
          </a:xfrm>
          <a:custGeom>
            <a:avLst/>
            <a:gdLst/>
            <a:ahLst/>
            <a:cxnLst/>
            <a:rect l="l" t="t" r="r" b="b"/>
            <a:pathLst>
              <a:path w="2146852" h="1311965" fill="none" extrusionOk="0">
                <a:moveTo>
                  <a:pt x="0" y="1311965"/>
                </a:moveTo>
                <a:lnTo>
                  <a:pt x="2146852" y="0"/>
                </a:lnTo>
              </a:path>
            </a:pathLst>
          </a:custGeom>
          <a:noFill/>
          <a:ln w="29817" cap="flat">
            <a:solidFill>
              <a:srgbClr val="B4530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048 矢印先端"/>
          <p:cNvSpPr/>
          <p:nvPr/>
        </p:nvSpPr>
        <p:spPr>
          <a:xfrm>
            <a:off x="8999721" y="3628393"/>
            <a:ext cx="199301" cy="169618"/>
          </a:xfrm>
          <a:custGeom>
            <a:avLst/>
            <a:gdLst/>
            <a:ahLst/>
            <a:cxnLst/>
            <a:rect l="l" t="t" r="r" b="b"/>
            <a:pathLst>
              <a:path w="199301" h="169618" stroke="0" extrusionOk="0">
                <a:moveTo>
                  <a:pt x="0" y="16962"/>
                </a:moveTo>
                <a:lnTo>
                  <a:pt x="199301" y="0"/>
                </a:lnTo>
                <a:lnTo>
                  <a:pt x="93290" y="169618"/>
                </a:lnTo>
                <a:close/>
              </a:path>
            </a:pathLst>
          </a:cu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049 文字 Δ"/>
          <p:cNvSpPr txBox="1"/>
          <p:nvPr/>
        </p:nvSpPr>
        <p:spPr>
          <a:xfrm>
            <a:off x="8014915" y="3881032"/>
            <a:ext cx="2600077" cy="3697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878" b="0" baseline="0" dirty="0">
                <a:solidFill>
                  <a:srgbClr val="B45309"/>
                </a:solidFill>
                <a:latin typeface="Arial"/>
                <a:ea typeface="Yu Gothic"/>
                <a:cs typeface="Arial"/>
              </a:rPr>
              <a:t>Δ</a:t>
            </a:r>
          </a:p>
        </p:txBody>
      </p:sp>
      <p:sp>
        <p:nvSpPr>
          <p:cNvPr id="51" name="050 点"/>
          <p:cNvSpPr/>
          <p:nvPr/>
        </p:nvSpPr>
        <p:spPr>
          <a:xfrm>
            <a:off x="6977270" y="4890052"/>
            <a:ext cx="119270" cy="119270"/>
          </a:xfrm>
          <a:prstGeom prst="ellipse">
            <a:avLst/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051 点"/>
          <p:cNvSpPr/>
          <p:nvPr/>
        </p:nvSpPr>
        <p:spPr>
          <a:xfrm>
            <a:off x="9124122" y="3578087"/>
            <a:ext cx="119270" cy="11927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052 文字 p = (0, 0)"/>
          <p:cNvSpPr txBox="1"/>
          <p:nvPr/>
        </p:nvSpPr>
        <p:spPr>
          <a:xfrm>
            <a:off x="6559826" y="5476739"/>
            <a:ext cx="4055165" cy="3142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596" b="0" baseline="0" dirty="0">
                <a:solidFill>
                  <a:srgbClr val="B45309"/>
                </a:solidFill>
                <a:latin typeface="Arial"/>
                <a:ea typeface="Yu Gothic"/>
                <a:cs typeface="Arial"/>
              </a:rPr>
              <a:t>p = (0, 0)</a:t>
            </a:r>
          </a:p>
        </p:txBody>
      </p:sp>
      <p:sp>
        <p:nvSpPr>
          <p:cNvPr id="54" name="053 文字 q = (xg, yg)"/>
          <p:cNvSpPr txBox="1"/>
          <p:nvPr/>
        </p:nvSpPr>
        <p:spPr>
          <a:xfrm>
            <a:off x="8348870" y="3081926"/>
            <a:ext cx="2266122" cy="3697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878" b="0" baseline="0" dirty="0">
                <a:solidFill>
                  <a:srgbClr val="0F766E"/>
                </a:solidFill>
                <a:latin typeface="Arial"/>
                <a:ea typeface="Yu Gothic"/>
                <a:cs typeface="Arial"/>
              </a:rPr>
              <a:t>q = (x</a:t>
            </a:r>
            <a:r>
              <a:rPr lang="ja-JP" sz="1878" b="0" baseline="-25000" dirty="0">
                <a:solidFill>
                  <a:srgbClr val="0F766E"/>
                </a:solidFill>
                <a:latin typeface="Arial"/>
                <a:ea typeface="Yu Gothic"/>
                <a:cs typeface="Arial"/>
              </a:rPr>
              <a:t>g</a:t>
            </a:r>
            <a:r>
              <a:rPr lang="ja-JP" sz="1878" b="0" baseline="0" dirty="0">
                <a:solidFill>
                  <a:srgbClr val="0F766E"/>
                </a:solidFill>
                <a:latin typeface="Arial"/>
                <a:ea typeface="Yu Gothic"/>
                <a:cs typeface="Arial"/>
              </a:rPr>
              <a:t>, y</a:t>
            </a:r>
            <a:r>
              <a:rPr lang="ja-JP" sz="1878" b="0" baseline="-25000" dirty="0">
                <a:solidFill>
                  <a:srgbClr val="0F766E"/>
                </a:solidFill>
                <a:latin typeface="Arial"/>
                <a:ea typeface="Yu Gothic"/>
                <a:cs typeface="Arial"/>
              </a:rPr>
              <a:t>g</a:t>
            </a:r>
            <a:r>
              <a:rPr lang="ja-JP" sz="1878" b="0" baseline="0" dirty="0">
                <a:solidFill>
                  <a:srgbClr val="0F766E"/>
                </a:solidFill>
                <a:latin typeface="Arial"/>
                <a:ea typeface="Yu Gothic"/>
                <a:cs typeface="Arial"/>
              </a:rPr>
              <a:t>)</a:t>
            </a:r>
          </a:p>
        </p:txBody>
      </p:sp>
      <p:sp>
        <p:nvSpPr>
          <p:cNvPr id="55" name="054 文字 前方が右、車体左方が上。"/>
          <p:cNvSpPr txBox="1"/>
          <p:nvPr/>
        </p:nvSpPr>
        <p:spPr>
          <a:xfrm>
            <a:off x="6559826" y="5894183"/>
            <a:ext cx="4055165" cy="3142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596" b="0" baseline="0" dirty="0">
                <a:solidFill>
                  <a:srgbClr val="64748B"/>
                </a:solidFill>
                <a:latin typeface="Arial"/>
                <a:ea typeface="Yu Gothic"/>
                <a:cs typeface="Arial"/>
              </a:rPr>
              <a:t>前方が右、車体左方が上。</a:t>
            </a:r>
          </a:p>
        </p:txBody>
      </p:sp>
      <p:sp>
        <p:nvSpPr>
          <p:cNvPr id="56" name="055 説明枠"/>
          <p:cNvSpPr/>
          <p:nvPr/>
        </p:nvSpPr>
        <p:spPr>
          <a:xfrm>
            <a:off x="763325" y="6500191"/>
            <a:ext cx="9446150" cy="1216550"/>
          </a:xfrm>
          <a:prstGeom prst="roundRect">
            <a:avLst>
              <a:gd name="adj" fmla="val 9803"/>
            </a:avLst>
          </a:prstGeom>
          <a:solidFill>
            <a:srgbClr val="F8FAFC"/>
          </a:solidFill>
          <a:ln w="11927" cap="flat">
            <a:solidFill>
              <a:srgbClr val="CBD5E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056 文字 Δ = q − p　　xg = Δ · f　　yg = Δ · l"/>
          <p:cNvSpPr txBox="1"/>
          <p:nvPr/>
        </p:nvSpPr>
        <p:spPr>
          <a:xfrm>
            <a:off x="1001864" y="6660013"/>
            <a:ext cx="9613127" cy="3697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878" b="1" baseline="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Δ = q − p　　x</a:t>
            </a:r>
            <a:r>
              <a:rPr lang="ja-JP" sz="1878" b="1" baseline="-2500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g</a:t>
            </a:r>
            <a:r>
              <a:rPr lang="ja-JP" sz="1878" b="1" baseline="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 = Δ · f　　y</a:t>
            </a:r>
            <a:r>
              <a:rPr lang="ja-JP" sz="1878" b="1" baseline="-2500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g</a:t>
            </a:r>
            <a:r>
              <a:rPr lang="ja-JP" sz="1878" b="1" baseline="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 = Δ · l</a:t>
            </a:r>
          </a:p>
        </p:txBody>
      </p:sp>
      <p:sp>
        <p:nvSpPr>
          <p:cNvPr id="58" name="057 文字 ψ：world の +x 軸から車体前方への反時計回りの角度"/>
          <p:cNvSpPr txBox="1"/>
          <p:nvPr/>
        </p:nvSpPr>
        <p:spPr>
          <a:xfrm>
            <a:off x="1001864" y="7051097"/>
            <a:ext cx="9613127" cy="3142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596" b="0" baseline="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ψ：world の +x 軸から車体前方への反時計回りの角度</a:t>
            </a:r>
          </a:p>
        </p:txBody>
      </p:sp>
      <p:sp>
        <p:nvSpPr>
          <p:cNvPr id="59" name="058 文字 単位は m。観測に入れる前に 1.6 節の clip・正規化を行う。"/>
          <p:cNvSpPr txBox="1"/>
          <p:nvPr/>
        </p:nvSpPr>
        <p:spPr>
          <a:xfrm>
            <a:off x="1001864" y="7373125"/>
            <a:ext cx="9613127" cy="3142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596" b="0" baseline="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単位は m。観測に入れる前に 1.6 節の clip・正規化を行う。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p_geomet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白背景" descr="スライド全面の白背景"/>
          <p:cNvSpPr/>
          <p:nvPr/>
        </p:nvSpPr>
        <p:spPr>
          <a:xfrm>
            <a:off x="0" y="0"/>
            <a:ext cx="10972800" cy="822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/>
          <a:lstStyle/>
          <a:p>
            <a:endParaRPr lang="ja-JP" altLang="en-US"/>
          </a:p>
        </p:txBody>
      </p:sp>
      <p:sp>
        <p:nvSpPr>
          <p:cNvPr id="2" name="001 文字 注視点 Q を通る円"/>
          <p:cNvSpPr txBox="1"/>
          <p:nvPr/>
        </p:nvSpPr>
        <p:spPr>
          <a:xfrm>
            <a:off x="1946479" y="498070"/>
            <a:ext cx="7714355" cy="51763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2629" b="1" baseline="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注視点 Q を通る円</a:t>
            </a:r>
          </a:p>
        </p:txBody>
      </p:sp>
      <p:sp>
        <p:nvSpPr>
          <p:cNvPr id="3" name="002 文字 左旋回（R &gt; 0）の例"/>
          <p:cNvSpPr txBox="1"/>
          <p:nvPr/>
        </p:nvSpPr>
        <p:spPr>
          <a:xfrm>
            <a:off x="1946479" y="993158"/>
            <a:ext cx="7714355" cy="38822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972" b="0" baseline="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左旋回（R &gt; 0）の例</a:t>
            </a:r>
          </a:p>
        </p:txBody>
      </p:sp>
      <p:sp>
        <p:nvSpPr>
          <p:cNvPr id="4" name="003 経路・補助線"/>
          <p:cNvSpPr/>
          <p:nvPr/>
        </p:nvSpPr>
        <p:spPr>
          <a:xfrm>
            <a:off x="3148717" y="1409766"/>
            <a:ext cx="1" cy="5092810"/>
          </a:xfrm>
          <a:custGeom>
            <a:avLst/>
            <a:gdLst/>
            <a:ahLst/>
            <a:cxnLst/>
            <a:rect l="l" t="t" r="r" b="b"/>
            <a:pathLst>
              <a:path w="1" h="5092810" fill="none" extrusionOk="0">
                <a:moveTo>
                  <a:pt x="0" y="5092810"/>
                </a:moveTo>
                <a:lnTo>
                  <a:pt x="0" y="0"/>
                </a:lnTo>
              </a:path>
            </a:pathLst>
          </a:custGeom>
          <a:noFill/>
          <a:ln w="25047" cap="flat">
            <a:solidFill>
              <a:srgbClr val="64748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004 矢印先端"/>
          <p:cNvSpPr/>
          <p:nvPr/>
        </p:nvSpPr>
        <p:spPr>
          <a:xfrm>
            <a:off x="3073577" y="1394738"/>
            <a:ext cx="150280" cy="150280"/>
          </a:xfrm>
          <a:custGeom>
            <a:avLst/>
            <a:gdLst/>
            <a:ahLst/>
            <a:cxnLst/>
            <a:rect l="l" t="t" r="r" b="b"/>
            <a:pathLst>
              <a:path w="150280" h="150280" stroke="0" extrusionOk="0">
                <a:moveTo>
                  <a:pt x="0" y="150280"/>
                </a:moveTo>
                <a:lnTo>
                  <a:pt x="75140" y="0"/>
                </a:lnTo>
                <a:lnTo>
                  <a:pt x="150280" y="150280"/>
                </a:lnTo>
                <a:close/>
              </a:path>
            </a:pathLst>
          </a:custGeom>
          <a:solidFill>
            <a:srgbClr val="47556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005 経路・補助線"/>
          <p:cNvSpPr/>
          <p:nvPr/>
        </p:nvSpPr>
        <p:spPr>
          <a:xfrm>
            <a:off x="2597691" y="5951551"/>
            <a:ext cx="6311745" cy="1"/>
          </a:xfrm>
          <a:custGeom>
            <a:avLst/>
            <a:gdLst/>
            <a:ahLst/>
            <a:cxnLst/>
            <a:rect l="l" t="t" r="r" b="b"/>
            <a:pathLst>
              <a:path w="6311745" h="1" fill="none" extrusionOk="0">
                <a:moveTo>
                  <a:pt x="0" y="0"/>
                </a:moveTo>
                <a:lnTo>
                  <a:pt x="6311745" y="0"/>
                </a:lnTo>
              </a:path>
            </a:pathLst>
          </a:custGeom>
          <a:noFill/>
          <a:ln w="25047" cap="flat">
            <a:solidFill>
              <a:srgbClr val="64748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006 矢印先端"/>
          <p:cNvSpPr/>
          <p:nvPr/>
        </p:nvSpPr>
        <p:spPr>
          <a:xfrm>
            <a:off x="8774185" y="5876411"/>
            <a:ext cx="150280" cy="150280"/>
          </a:xfrm>
          <a:custGeom>
            <a:avLst/>
            <a:gdLst/>
            <a:ahLst/>
            <a:cxnLst/>
            <a:rect l="l" t="t" r="r" b="b"/>
            <a:pathLst>
              <a:path w="150280" h="150280" stroke="0" extrusionOk="0">
                <a:moveTo>
                  <a:pt x="0" y="0"/>
                </a:moveTo>
                <a:lnTo>
                  <a:pt x="150280" y="75140"/>
                </a:lnTo>
                <a:lnTo>
                  <a:pt x="0" y="150280"/>
                </a:lnTo>
                <a:close/>
              </a:path>
            </a:pathLst>
          </a:custGeom>
          <a:solidFill>
            <a:srgbClr val="47556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007 文字 y"/>
          <p:cNvSpPr txBox="1"/>
          <p:nvPr/>
        </p:nvSpPr>
        <p:spPr>
          <a:xfrm>
            <a:off x="2697878" y="1312752"/>
            <a:ext cx="6962957" cy="43998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2235" b="0" baseline="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y</a:t>
            </a:r>
          </a:p>
        </p:txBody>
      </p:sp>
      <p:sp>
        <p:nvSpPr>
          <p:cNvPr id="9" name="008 文字 x"/>
          <p:cNvSpPr txBox="1"/>
          <p:nvPr/>
        </p:nvSpPr>
        <p:spPr>
          <a:xfrm>
            <a:off x="8692366" y="6105004"/>
            <a:ext cx="2003729" cy="43998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2235" b="0" baseline="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x</a:t>
            </a:r>
          </a:p>
        </p:txBody>
      </p:sp>
      <p:sp>
        <p:nvSpPr>
          <p:cNvPr id="10" name="009 経路・補助線"/>
          <p:cNvSpPr/>
          <p:nvPr/>
        </p:nvSpPr>
        <p:spPr>
          <a:xfrm>
            <a:off x="3148717" y="1777117"/>
            <a:ext cx="3339548" cy="4174435"/>
          </a:xfrm>
          <a:custGeom>
            <a:avLst/>
            <a:gdLst/>
            <a:ahLst/>
            <a:cxnLst/>
            <a:rect l="l" t="t" r="r" b="b"/>
            <a:pathLst>
              <a:path w="3339548" h="4174435" fill="none" extrusionOk="0">
                <a:moveTo>
                  <a:pt x="0" y="0"/>
                </a:moveTo>
                <a:lnTo>
                  <a:pt x="0" y="4174435"/>
                </a:lnTo>
                <a:moveTo>
                  <a:pt x="0" y="0"/>
                </a:moveTo>
                <a:lnTo>
                  <a:pt x="3339548" y="2504661"/>
                </a:lnTo>
              </a:path>
            </a:pathLst>
          </a:custGeom>
          <a:noFill/>
          <a:ln w="33395" cap="flat">
            <a:solidFill>
              <a:srgbClr val="2563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010 経路・補助線"/>
          <p:cNvSpPr/>
          <p:nvPr/>
        </p:nvSpPr>
        <p:spPr>
          <a:xfrm>
            <a:off x="3148717" y="4281777"/>
            <a:ext cx="3339548" cy="1669774"/>
          </a:xfrm>
          <a:custGeom>
            <a:avLst/>
            <a:gdLst/>
            <a:ahLst/>
            <a:cxnLst/>
            <a:rect l="l" t="t" r="r" b="b"/>
            <a:pathLst>
              <a:path w="3339548" h="1669774" fill="none" extrusionOk="0">
                <a:moveTo>
                  <a:pt x="0" y="1669774"/>
                </a:moveTo>
                <a:cubicBezTo>
                  <a:pt x="648031" y="1669774"/>
                  <a:pt x="1287247" y="1518875"/>
                  <a:pt x="1866864" y="1229067"/>
                </a:cubicBezTo>
                <a:cubicBezTo>
                  <a:pt x="2446480" y="939259"/>
                  <a:pt x="2950729" y="518425"/>
                  <a:pt x="3339548" y="0"/>
                </a:cubicBezTo>
              </a:path>
            </a:pathLst>
          </a:custGeom>
          <a:noFill/>
          <a:ln w="66791" cap="flat">
            <a:solidFill>
              <a:srgbClr val="0F766E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011 経路・補助線"/>
          <p:cNvSpPr/>
          <p:nvPr/>
        </p:nvSpPr>
        <p:spPr>
          <a:xfrm>
            <a:off x="3148717" y="4281777"/>
            <a:ext cx="3339548" cy="1669774"/>
          </a:xfrm>
          <a:custGeom>
            <a:avLst/>
            <a:gdLst/>
            <a:ahLst/>
            <a:cxnLst/>
            <a:rect l="l" t="t" r="r" b="b"/>
            <a:pathLst>
              <a:path w="3339548" h="1669774" fill="none" extrusionOk="0">
                <a:moveTo>
                  <a:pt x="0" y="0"/>
                </a:moveTo>
                <a:lnTo>
                  <a:pt x="3339548" y="0"/>
                </a:lnTo>
                <a:lnTo>
                  <a:pt x="3339548" y="1669774"/>
                </a:lnTo>
              </a:path>
            </a:pathLst>
          </a:custGeom>
          <a:noFill/>
          <a:ln w="25047" cap="flat">
            <a:solidFill>
              <a:srgbClr val="94A3B8"/>
            </a:solidFill>
            <a:custDash>
              <a:ds d="333333" sp="333333"/>
            </a:custDash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012 点"/>
          <p:cNvSpPr/>
          <p:nvPr/>
        </p:nvSpPr>
        <p:spPr>
          <a:xfrm>
            <a:off x="3073577" y="1701977"/>
            <a:ext cx="150280" cy="150280"/>
          </a:xfrm>
          <a:prstGeom prst="ellipse">
            <a:avLst/>
          </a:prstGeom>
          <a:solidFill>
            <a:srgbClr val="172B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013 点"/>
          <p:cNvSpPr/>
          <p:nvPr/>
        </p:nvSpPr>
        <p:spPr>
          <a:xfrm>
            <a:off x="3073577" y="5876411"/>
            <a:ext cx="150280" cy="150280"/>
          </a:xfrm>
          <a:prstGeom prst="ellipse">
            <a:avLst/>
          </a:prstGeom>
          <a:solidFill>
            <a:srgbClr val="172B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014 点"/>
          <p:cNvSpPr/>
          <p:nvPr/>
        </p:nvSpPr>
        <p:spPr>
          <a:xfrm>
            <a:off x="6404776" y="4198289"/>
            <a:ext cx="166977" cy="166977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015 文字 C = (0, R)"/>
          <p:cNvSpPr txBox="1"/>
          <p:nvPr/>
        </p:nvSpPr>
        <p:spPr>
          <a:xfrm>
            <a:off x="3465974" y="1412939"/>
            <a:ext cx="6194861" cy="43998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2235" b="0" baseline="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C = (0, R)</a:t>
            </a:r>
          </a:p>
        </p:txBody>
      </p:sp>
      <p:sp>
        <p:nvSpPr>
          <p:cNvPr id="17" name="016 文字 O = (0, 0)"/>
          <p:cNvSpPr txBox="1"/>
          <p:nvPr/>
        </p:nvSpPr>
        <p:spPr>
          <a:xfrm>
            <a:off x="2241721" y="6138399"/>
            <a:ext cx="1426464" cy="43998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2235" b="0" baseline="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O = (0, 0)</a:t>
            </a:r>
          </a:p>
        </p:txBody>
      </p:sp>
      <p:sp>
        <p:nvSpPr>
          <p:cNvPr id="18" name="017 文字 Q = (x, y)"/>
          <p:cNvSpPr txBox="1"/>
          <p:nvPr/>
        </p:nvSpPr>
        <p:spPr>
          <a:xfrm>
            <a:off x="6671939" y="3950995"/>
            <a:ext cx="2988895" cy="43998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2235" b="0" baseline="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Q = (x, y)</a:t>
            </a:r>
          </a:p>
        </p:txBody>
      </p:sp>
      <p:sp>
        <p:nvSpPr>
          <p:cNvPr id="19" name="018 文字 R"/>
          <p:cNvSpPr txBox="1"/>
          <p:nvPr/>
        </p:nvSpPr>
        <p:spPr>
          <a:xfrm>
            <a:off x="2714575" y="3533552"/>
            <a:ext cx="6946259" cy="43998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2235" b="0" baseline="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R</a:t>
            </a:r>
          </a:p>
        </p:txBody>
      </p:sp>
      <p:sp>
        <p:nvSpPr>
          <p:cNvPr id="20" name="019 文字 |R|"/>
          <p:cNvSpPr txBox="1"/>
          <p:nvPr/>
        </p:nvSpPr>
        <p:spPr>
          <a:xfrm>
            <a:off x="5035561" y="2581781"/>
            <a:ext cx="4625274" cy="43998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2235" b="0" baseline="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|R|</a:t>
            </a:r>
          </a:p>
        </p:txBody>
      </p:sp>
      <p:sp>
        <p:nvSpPr>
          <p:cNvPr id="21" name="020 文字 x"/>
          <p:cNvSpPr txBox="1"/>
          <p:nvPr/>
        </p:nvSpPr>
        <p:spPr>
          <a:xfrm>
            <a:off x="4701606" y="3850809"/>
            <a:ext cx="4959229" cy="43998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2235" b="0" baseline="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x</a:t>
            </a:r>
          </a:p>
        </p:txBody>
      </p:sp>
      <p:sp>
        <p:nvSpPr>
          <p:cNvPr id="22" name="021 文字 y"/>
          <p:cNvSpPr txBox="1"/>
          <p:nvPr/>
        </p:nvSpPr>
        <p:spPr>
          <a:xfrm>
            <a:off x="6738730" y="4936162"/>
            <a:ext cx="2922104" cy="43998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2235" b="0" baseline="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y</a:t>
            </a:r>
          </a:p>
        </p:txBody>
      </p:sp>
      <p:sp>
        <p:nvSpPr>
          <p:cNvPr id="23" name="022 文字 後輪中心が描く円弧"/>
          <p:cNvSpPr txBox="1"/>
          <p:nvPr/>
        </p:nvSpPr>
        <p:spPr>
          <a:xfrm>
            <a:off x="4918677" y="6236248"/>
            <a:ext cx="4742158" cy="38822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972" b="0" baseline="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後輪中心が描く円弧</a:t>
            </a:r>
          </a:p>
        </p:txBody>
      </p:sp>
      <p:sp>
        <p:nvSpPr>
          <p:cNvPr id="24" name="023 文字 O での接線が車体前方を向き、Q を通る。"/>
          <p:cNvSpPr txBox="1"/>
          <p:nvPr/>
        </p:nvSpPr>
        <p:spPr>
          <a:xfrm>
            <a:off x="1946479" y="7054437"/>
            <a:ext cx="7714355" cy="38822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972" b="0" baseline="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O での接線が車体前方を向き、Q を通る。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p_curva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白背景" descr="スライド全面の白背景"/>
          <p:cNvSpPr/>
          <p:nvPr/>
        </p:nvSpPr>
        <p:spPr>
          <a:xfrm>
            <a:off x="0" y="0"/>
            <a:ext cx="10972800" cy="822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/>
          <a:lstStyle/>
          <a:p>
            <a:endParaRPr lang="ja-JP" altLang="en-US"/>
          </a:p>
        </p:txBody>
      </p:sp>
      <p:sp>
        <p:nvSpPr>
          <p:cNvPr id="2" name="001 文字 円弧の長さと、進行方向の変化"/>
          <p:cNvSpPr txBox="1"/>
          <p:nvPr/>
        </p:nvSpPr>
        <p:spPr>
          <a:xfrm>
            <a:off x="578358" y="1330029"/>
            <a:ext cx="10228707" cy="3702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881" b="1" baseline="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円弧の長さと、進行方向の変化</a:t>
            </a:r>
          </a:p>
        </p:txBody>
      </p:sp>
      <p:sp>
        <p:nvSpPr>
          <p:cNvPr id="3" name="002 文字 左旋回（R &gt; 0）の例。O から円弧上の点 P へ進む。"/>
          <p:cNvSpPr txBox="1"/>
          <p:nvPr/>
        </p:nvSpPr>
        <p:spPr>
          <a:xfrm>
            <a:off x="578358" y="1684559"/>
            <a:ext cx="10228707" cy="28612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453" b="0" baseline="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左旋回（R &gt; 0）の例。O から円弧上の点 P へ進む。</a:t>
            </a:r>
          </a:p>
        </p:txBody>
      </p:sp>
      <p:sp>
        <p:nvSpPr>
          <p:cNvPr id="4" name="003 経路・補助線"/>
          <p:cNvSpPr/>
          <p:nvPr/>
        </p:nvSpPr>
        <p:spPr>
          <a:xfrm>
            <a:off x="6409372" y="2116836"/>
            <a:ext cx="1" cy="4093654"/>
          </a:xfrm>
          <a:custGeom>
            <a:avLst/>
            <a:gdLst/>
            <a:ahLst/>
            <a:cxnLst/>
            <a:rect l="l" t="t" r="r" b="b"/>
            <a:pathLst>
              <a:path w="1" h="4093654" extrusionOk="0">
                <a:moveTo>
                  <a:pt x="0" y="0"/>
                </a:moveTo>
                <a:lnTo>
                  <a:pt x="0" y="4093654"/>
                </a:lnTo>
              </a:path>
            </a:pathLst>
          </a:custGeom>
          <a:solidFill>
            <a:srgbClr val="000000"/>
          </a:solidFill>
          <a:ln w="10858" cap="flat">
            <a:solidFill>
              <a:srgbClr val="E2E8F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004 経路・補助線"/>
          <p:cNvSpPr/>
          <p:nvPr/>
        </p:nvSpPr>
        <p:spPr>
          <a:xfrm>
            <a:off x="1523048" y="3035693"/>
            <a:ext cx="2994188" cy="2512429"/>
          </a:xfrm>
          <a:custGeom>
            <a:avLst/>
            <a:gdLst/>
            <a:ahLst/>
            <a:cxnLst/>
            <a:rect l="l" t="t" r="r" b="b"/>
            <a:pathLst>
              <a:path w="2994188" h="2512429" fill="none" extrusionOk="0">
                <a:moveTo>
                  <a:pt x="0" y="2512429"/>
                </a:moveTo>
                <a:cubicBezTo>
                  <a:pt x="473804" y="2512428"/>
                  <a:pt x="941114" y="2401674"/>
                  <a:pt x="1364521" y="2189030"/>
                </a:cubicBezTo>
                <a:cubicBezTo>
                  <a:pt x="1787927" y="1976387"/>
                  <a:pt x="2155823" y="1667684"/>
                  <a:pt x="2438759" y="1287634"/>
                </a:cubicBezTo>
                <a:cubicBezTo>
                  <a:pt x="2721695" y="907584"/>
                  <a:pt x="2911914" y="466606"/>
                  <a:pt x="2994188" y="0"/>
                </a:cubicBezTo>
              </a:path>
            </a:pathLst>
          </a:custGeom>
          <a:noFill/>
          <a:ln w="16288" cap="flat">
            <a:solidFill>
              <a:srgbClr val="94A3B8"/>
            </a:solidFill>
            <a:custDash>
              <a:ds d="333333" sp="333333"/>
            </a:custDash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005 経路・補助線"/>
          <p:cNvSpPr/>
          <p:nvPr/>
        </p:nvSpPr>
        <p:spPr>
          <a:xfrm>
            <a:off x="1523048" y="2507742"/>
            <a:ext cx="2329061" cy="3040380"/>
          </a:xfrm>
          <a:custGeom>
            <a:avLst/>
            <a:gdLst/>
            <a:ahLst/>
            <a:cxnLst/>
            <a:rect l="l" t="t" r="r" b="b"/>
            <a:pathLst>
              <a:path w="2329061" h="3040380" fill="none" extrusionOk="0">
                <a:moveTo>
                  <a:pt x="0" y="0"/>
                </a:moveTo>
                <a:lnTo>
                  <a:pt x="0" y="3040380"/>
                </a:lnTo>
                <a:moveTo>
                  <a:pt x="0" y="0"/>
                </a:moveTo>
                <a:lnTo>
                  <a:pt x="2329061" y="1954324"/>
                </a:lnTo>
              </a:path>
            </a:pathLst>
          </a:custGeom>
          <a:noFill/>
          <a:ln w="21717" cap="flat">
            <a:solidFill>
              <a:srgbClr val="2563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006 経路・補助線"/>
          <p:cNvSpPr/>
          <p:nvPr/>
        </p:nvSpPr>
        <p:spPr>
          <a:xfrm>
            <a:off x="1523048" y="2507742"/>
            <a:ext cx="415902" cy="542925"/>
          </a:xfrm>
          <a:custGeom>
            <a:avLst/>
            <a:gdLst/>
            <a:ahLst/>
            <a:cxnLst/>
            <a:rect l="l" t="t" r="r" b="b"/>
            <a:pathLst>
              <a:path w="415902" h="542925" stroke="0" extrusionOk="0">
                <a:moveTo>
                  <a:pt x="0" y="0"/>
                </a:moveTo>
                <a:lnTo>
                  <a:pt x="0" y="542925"/>
                </a:lnTo>
                <a:cubicBezTo>
                  <a:pt x="79277" y="542924"/>
                  <a:pt x="157600" y="525559"/>
                  <a:pt x="229449" y="492055"/>
                </a:cubicBezTo>
                <a:cubicBezTo>
                  <a:pt x="301298" y="458550"/>
                  <a:pt x="364945" y="409712"/>
                  <a:pt x="415902" y="348981"/>
                </a:cubicBezTo>
                <a:close/>
              </a:path>
            </a:pathLst>
          </a:custGeom>
          <a:solidFill>
            <a:srgbClr val="FFF7E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007 経路・補助線"/>
          <p:cNvSpPr/>
          <p:nvPr/>
        </p:nvSpPr>
        <p:spPr>
          <a:xfrm>
            <a:off x="1523048" y="2856723"/>
            <a:ext cx="415902" cy="193944"/>
          </a:xfrm>
          <a:custGeom>
            <a:avLst/>
            <a:gdLst/>
            <a:ahLst/>
            <a:cxnLst/>
            <a:rect l="l" t="t" r="r" b="b"/>
            <a:pathLst>
              <a:path w="415902" h="193944" fill="none" extrusionOk="0">
                <a:moveTo>
                  <a:pt x="0" y="193944"/>
                </a:moveTo>
                <a:cubicBezTo>
                  <a:pt x="79277" y="193943"/>
                  <a:pt x="157600" y="176578"/>
                  <a:pt x="229449" y="143073"/>
                </a:cubicBezTo>
                <a:cubicBezTo>
                  <a:pt x="301298" y="109569"/>
                  <a:pt x="364945" y="60730"/>
                  <a:pt x="415902" y="0"/>
                </a:cubicBezTo>
              </a:path>
            </a:pathLst>
          </a:custGeom>
          <a:noFill/>
          <a:ln w="21717" cap="flat">
            <a:solidFill>
              <a:srgbClr val="B4530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008 矢印先端"/>
          <p:cNvSpPr/>
          <p:nvPr/>
        </p:nvSpPr>
        <p:spPr>
          <a:xfrm>
            <a:off x="1834542" y="2848405"/>
            <a:ext cx="111387" cy="118080"/>
          </a:xfrm>
          <a:custGeom>
            <a:avLst/>
            <a:gdLst/>
            <a:ahLst/>
            <a:cxnLst/>
            <a:rect l="l" t="t" r="r" b="b"/>
            <a:pathLst>
              <a:path w="111387" h="118080" stroke="0" extrusionOk="0">
                <a:moveTo>
                  <a:pt x="0" y="48283"/>
                </a:moveTo>
                <a:lnTo>
                  <a:pt x="111387" y="0"/>
                </a:lnTo>
                <a:lnTo>
                  <a:pt x="83181" y="118080"/>
                </a:lnTo>
                <a:close/>
              </a:path>
            </a:pathLst>
          </a:cu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009 文字 Δθ"/>
          <p:cNvSpPr txBox="1"/>
          <p:nvPr/>
        </p:nvSpPr>
        <p:spPr>
          <a:xfrm>
            <a:off x="1859661" y="3023955"/>
            <a:ext cx="8947404" cy="3702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881" b="0" baseline="0" dirty="0">
                <a:solidFill>
                  <a:srgbClr val="B45309"/>
                </a:solidFill>
                <a:latin typeface="Arial"/>
                <a:ea typeface="Yu Gothic"/>
                <a:cs typeface="Arial"/>
              </a:rPr>
              <a:t>Δθ</a:t>
            </a:r>
          </a:p>
        </p:txBody>
      </p:sp>
      <p:sp>
        <p:nvSpPr>
          <p:cNvPr id="11" name="010 文字 R"/>
          <p:cNvSpPr txBox="1"/>
          <p:nvPr/>
        </p:nvSpPr>
        <p:spPr>
          <a:xfrm>
            <a:off x="1219010" y="3881777"/>
            <a:ext cx="9588055" cy="3702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881" b="0" baseline="0" dirty="0">
                <a:solidFill>
                  <a:srgbClr val="2563EB"/>
                </a:solidFill>
                <a:latin typeface="Arial"/>
                <a:ea typeface="Yu Gothic"/>
                <a:cs typeface="Arial"/>
              </a:rPr>
              <a:t>R</a:t>
            </a:r>
          </a:p>
        </p:txBody>
      </p:sp>
      <p:sp>
        <p:nvSpPr>
          <p:cNvPr id="12" name="011 経路・補助線"/>
          <p:cNvSpPr/>
          <p:nvPr/>
        </p:nvSpPr>
        <p:spPr>
          <a:xfrm>
            <a:off x="1523048" y="4462066"/>
            <a:ext cx="2329061" cy="1086056"/>
          </a:xfrm>
          <a:custGeom>
            <a:avLst/>
            <a:gdLst/>
            <a:ahLst/>
            <a:cxnLst/>
            <a:rect l="l" t="t" r="r" b="b"/>
            <a:pathLst>
              <a:path w="2329061" h="1086056" fill="none" extrusionOk="0">
                <a:moveTo>
                  <a:pt x="0" y="1086056"/>
                </a:moveTo>
                <a:cubicBezTo>
                  <a:pt x="443951" y="1086056"/>
                  <a:pt x="882561" y="988819"/>
                  <a:pt x="1284917" y="801198"/>
                </a:cubicBezTo>
                <a:cubicBezTo>
                  <a:pt x="1687273" y="613576"/>
                  <a:pt x="2043695" y="340085"/>
                  <a:pt x="2329061" y="0"/>
                </a:cubicBezTo>
              </a:path>
            </a:pathLst>
          </a:custGeom>
          <a:noFill/>
          <a:ln w="54292" cap="flat">
            <a:solidFill>
              <a:srgbClr val="0F766E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012 経路・補助線"/>
          <p:cNvSpPr/>
          <p:nvPr/>
        </p:nvSpPr>
        <p:spPr>
          <a:xfrm>
            <a:off x="2916562" y="5201540"/>
            <a:ext cx="137534" cy="161987"/>
          </a:xfrm>
          <a:custGeom>
            <a:avLst/>
            <a:gdLst/>
            <a:ahLst/>
            <a:cxnLst/>
            <a:rect l="l" t="t" r="r" b="b"/>
            <a:pathLst>
              <a:path w="137534" h="161987" fill="none" extrusionOk="0">
                <a:moveTo>
                  <a:pt x="137534" y="161987"/>
                </a:moveTo>
                <a:lnTo>
                  <a:pt x="0" y="0"/>
                </a:lnTo>
              </a:path>
            </a:pathLst>
          </a:custGeom>
          <a:noFill/>
          <a:ln w="16288" cap="flat">
            <a:solidFill>
              <a:srgbClr val="0F766E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013 文字 Δs"/>
          <p:cNvSpPr txBox="1"/>
          <p:nvPr/>
        </p:nvSpPr>
        <p:spPr>
          <a:xfrm>
            <a:off x="3119247" y="5284043"/>
            <a:ext cx="7687818" cy="4039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2052" b="0" baseline="0" dirty="0">
                <a:solidFill>
                  <a:srgbClr val="0F766E"/>
                </a:solidFill>
                <a:latin typeface="Arial"/>
                <a:ea typeface="Yu Gothic"/>
                <a:cs typeface="Arial"/>
              </a:rPr>
              <a:t>Δs</a:t>
            </a:r>
          </a:p>
        </p:txBody>
      </p:sp>
      <p:sp>
        <p:nvSpPr>
          <p:cNvPr id="15" name="014 経路・補助線"/>
          <p:cNvSpPr/>
          <p:nvPr/>
        </p:nvSpPr>
        <p:spPr>
          <a:xfrm>
            <a:off x="1523048" y="5548122"/>
            <a:ext cx="1411605" cy="1"/>
          </a:xfrm>
          <a:custGeom>
            <a:avLst/>
            <a:gdLst/>
            <a:ahLst/>
            <a:cxnLst/>
            <a:rect l="l" t="t" r="r" b="b"/>
            <a:pathLst>
              <a:path w="1411605" h="1" fill="none" extrusionOk="0">
                <a:moveTo>
                  <a:pt x="0" y="0"/>
                </a:moveTo>
                <a:lnTo>
                  <a:pt x="1411605" y="0"/>
                </a:lnTo>
              </a:path>
            </a:pathLst>
          </a:custGeom>
          <a:noFill/>
          <a:ln w="27146" cap="flat">
            <a:solidFill>
              <a:srgbClr val="B4530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015 矢印先端"/>
          <p:cNvSpPr/>
          <p:nvPr/>
        </p:nvSpPr>
        <p:spPr>
          <a:xfrm>
            <a:off x="2788063" y="5466683"/>
            <a:ext cx="162878" cy="162878"/>
          </a:xfrm>
          <a:custGeom>
            <a:avLst/>
            <a:gdLst/>
            <a:ahLst/>
            <a:cxnLst/>
            <a:rect l="l" t="t" r="r" b="b"/>
            <a:pathLst>
              <a:path w="162878" h="162878" stroke="0" extrusionOk="0">
                <a:moveTo>
                  <a:pt x="0" y="0"/>
                </a:moveTo>
                <a:lnTo>
                  <a:pt x="162878" y="81439"/>
                </a:lnTo>
                <a:lnTo>
                  <a:pt x="0" y="162878"/>
                </a:lnTo>
                <a:close/>
              </a:path>
            </a:pathLst>
          </a:cu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016 経路・補助線"/>
          <p:cNvSpPr/>
          <p:nvPr/>
        </p:nvSpPr>
        <p:spPr>
          <a:xfrm>
            <a:off x="3852109" y="3380711"/>
            <a:ext cx="907358" cy="1081355"/>
          </a:xfrm>
          <a:custGeom>
            <a:avLst/>
            <a:gdLst/>
            <a:ahLst/>
            <a:cxnLst/>
            <a:rect l="l" t="t" r="r" b="b"/>
            <a:pathLst>
              <a:path w="907358" h="1081355" fill="none" extrusionOk="0">
                <a:moveTo>
                  <a:pt x="0" y="1081355"/>
                </a:moveTo>
                <a:lnTo>
                  <a:pt x="907358" y="0"/>
                </a:lnTo>
              </a:path>
            </a:pathLst>
          </a:custGeom>
          <a:noFill/>
          <a:ln w="27146" cap="flat">
            <a:solidFill>
              <a:srgbClr val="B4530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017 矢印先端"/>
          <p:cNvSpPr/>
          <p:nvPr/>
        </p:nvSpPr>
        <p:spPr>
          <a:xfrm>
            <a:off x="4602855" y="3368234"/>
            <a:ext cx="167081" cy="177119"/>
          </a:xfrm>
          <a:custGeom>
            <a:avLst/>
            <a:gdLst/>
            <a:ahLst/>
            <a:cxnLst/>
            <a:rect l="l" t="t" r="r" b="b"/>
            <a:pathLst>
              <a:path w="167081" h="177119" stroke="0" extrusionOk="0">
                <a:moveTo>
                  <a:pt x="0" y="72424"/>
                </a:moveTo>
                <a:lnTo>
                  <a:pt x="167081" y="0"/>
                </a:lnTo>
                <a:lnTo>
                  <a:pt x="124772" y="177119"/>
                </a:lnTo>
                <a:close/>
              </a:path>
            </a:pathLst>
          </a:cu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018 経路・補助線"/>
          <p:cNvSpPr/>
          <p:nvPr/>
        </p:nvSpPr>
        <p:spPr>
          <a:xfrm>
            <a:off x="3852109" y="4462066"/>
            <a:ext cx="1699442" cy="1"/>
          </a:xfrm>
          <a:custGeom>
            <a:avLst/>
            <a:gdLst/>
            <a:ahLst/>
            <a:cxnLst/>
            <a:rect l="l" t="t" r="r" b="b"/>
            <a:pathLst>
              <a:path w="1699442" h="1" fill="none" extrusionOk="0">
                <a:moveTo>
                  <a:pt x="0" y="0"/>
                </a:moveTo>
                <a:lnTo>
                  <a:pt x="1699442" y="0"/>
                </a:lnTo>
              </a:path>
            </a:pathLst>
          </a:custGeom>
          <a:noFill/>
          <a:ln w="16288" cap="flat">
            <a:solidFill>
              <a:srgbClr val="94A3B8"/>
            </a:solidFill>
            <a:custDash>
              <a:ds d="333333" sp="333333"/>
            </a:custDash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019 経路・補助線"/>
          <p:cNvSpPr/>
          <p:nvPr/>
        </p:nvSpPr>
        <p:spPr>
          <a:xfrm>
            <a:off x="4235989" y="4004575"/>
            <a:ext cx="213337" cy="457490"/>
          </a:xfrm>
          <a:custGeom>
            <a:avLst/>
            <a:gdLst/>
            <a:ahLst/>
            <a:cxnLst/>
            <a:rect l="l" t="t" r="r" b="b"/>
            <a:pathLst>
              <a:path w="213337" h="457490" fill="none" extrusionOk="0">
                <a:moveTo>
                  <a:pt x="213337" y="457490"/>
                </a:moveTo>
                <a:cubicBezTo>
                  <a:pt x="213336" y="370286"/>
                  <a:pt x="194235" y="284131"/>
                  <a:pt x="157380" y="205097"/>
                </a:cubicBezTo>
                <a:cubicBezTo>
                  <a:pt x="120525" y="126064"/>
                  <a:pt x="66803" y="56053"/>
                  <a:pt x="0" y="0"/>
                </a:cubicBezTo>
              </a:path>
            </a:pathLst>
          </a:custGeom>
          <a:noFill/>
          <a:ln w="21717" cap="flat">
            <a:solidFill>
              <a:srgbClr val="B4530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020 矢印先端"/>
          <p:cNvSpPr/>
          <p:nvPr/>
        </p:nvSpPr>
        <p:spPr>
          <a:xfrm>
            <a:off x="4227671" y="3997596"/>
            <a:ext cx="118080" cy="111387"/>
          </a:xfrm>
          <a:custGeom>
            <a:avLst/>
            <a:gdLst/>
            <a:ahLst/>
            <a:cxnLst/>
            <a:rect l="l" t="t" r="r" b="b"/>
            <a:pathLst>
              <a:path w="118080" h="111387" stroke="0" extrusionOk="0">
                <a:moveTo>
                  <a:pt x="48283" y="111387"/>
                </a:moveTo>
                <a:lnTo>
                  <a:pt x="0" y="0"/>
                </a:lnTo>
                <a:lnTo>
                  <a:pt x="118080" y="28206"/>
                </a:lnTo>
                <a:close/>
              </a:path>
            </a:pathLst>
          </a:cu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021 文字 Δθ"/>
          <p:cNvSpPr txBox="1"/>
          <p:nvPr/>
        </p:nvSpPr>
        <p:spPr>
          <a:xfrm>
            <a:off x="4596003" y="4033796"/>
            <a:ext cx="6211062" cy="3702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881" b="0" baseline="0" dirty="0">
                <a:solidFill>
                  <a:srgbClr val="B45309"/>
                </a:solidFill>
                <a:latin typeface="Arial"/>
                <a:ea typeface="Yu Gothic"/>
                <a:cs typeface="Arial"/>
              </a:rPr>
              <a:t>Δθ</a:t>
            </a:r>
          </a:p>
        </p:txBody>
      </p:sp>
      <p:sp>
        <p:nvSpPr>
          <p:cNvPr id="23" name="022 経路・補助線"/>
          <p:cNvSpPr/>
          <p:nvPr/>
        </p:nvSpPr>
        <p:spPr>
          <a:xfrm>
            <a:off x="1523048" y="5396103"/>
            <a:ext cx="152019" cy="152019"/>
          </a:xfrm>
          <a:custGeom>
            <a:avLst/>
            <a:gdLst/>
            <a:ahLst/>
            <a:cxnLst/>
            <a:rect l="l" t="t" r="r" b="b"/>
            <a:pathLst>
              <a:path w="152019" h="152019" fill="none" extrusionOk="0">
                <a:moveTo>
                  <a:pt x="0" y="0"/>
                </a:moveTo>
                <a:lnTo>
                  <a:pt x="152019" y="0"/>
                </a:lnTo>
                <a:lnTo>
                  <a:pt x="152019" y="152019"/>
                </a:lnTo>
              </a:path>
            </a:pathLst>
          </a:custGeom>
          <a:noFill/>
          <a:ln w="16288" cap="flat">
            <a:solidFill>
              <a:srgbClr val="64748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023 経路・補助線"/>
          <p:cNvSpPr/>
          <p:nvPr/>
        </p:nvSpPr>
        <p:spPr>
          <a:xfrm>
            <a:off x="3735651" y="4247893"/>
            <a:ext cx="214173" cy="116457"/>
          </a:xfrm>
          <a:custGeom>
            <a:avLst/>
            <a:gdLst/>
            <a:ahLst/>
            <a:cxnLst/>
            <a:rect l="l" t="t" r="r" b="b"/>
            <a:pathLst>
              <a:path w="214173" h="116457" fill="none" extrusionOk="0">
                <a:moveTo>
                  <a:pt x="0" y="116457"/>
                </a:moveTo>
                <a:lnTo>
                  <a:pt x="97716" y="0"/>
                </a:lnTo>
                <a:lnTo>
                  <a:pt x="214173" y="97716"/>
                </a:lnTo>
              </a:path>
            </a:pathLst>
          </a:custGeom>
          <a:noFill/>
          <a:ln w="16288" cap="flat">
            <a:solidFill>
              <a:srgbClr val="64748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024 点"/>
          <p:cNvSpPr/>
          <p:nvPr/>
        </p:nvSpPr>
        <p:spPr>
          <a:xfrm>
            <a:off x="1474184" y="2458879"/>
            <a:ext cx="97726" cy="97726"/>
          </a:xfrm>
          <a:prstGeom prst="ellipse">
            <a:avLst/>
          </a:prstGeom>
          <a:solidFill>
            <a:srgbClr val="172B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025 点"/>
          <p:cNvSpPr/>
          <p:nvPr/>
        </p:nvSpPr>
        <p:spPr>
          <a:xfrm>
            <a:off x="1474184" y="5499259"/>
            <a:ext cx="97726" cy="97726"/>
          </a:xfrm>
          <a:prstGeom prst="ellipse">
            <a:avLst/>
          </a:prstGeom>
          <a:solidFill>
            <a:srgbClr val="172B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026 点"/>
          <p:cNvSpPr/>
          <p:nvPr/>
        </p:nvSpPr>
        <p:spPr>
          <a:xfrm>
            <a:off x="3803246" y="4413202"/>
            <a:ext cx="97726" cy="97726"/>
          </a:xfrm>
          <a:prstGeom prst="ellipse">
            <a:avLst/>
          </a:prstGeom>
          <a:solidFill>
            <a:srgbClr val="172B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027 文字 C"/>
          <p:cNvSpPr txBox="1"/>
          <p:nvPr/>
        </p:nvSpPr>
        <p:spPr>
          <a:xfrm>
            <a:off x="1240726" y="2249201"/>
            <a:ext cx="9566338" cy="28612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453" b="0" baseline="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C</a:t>
            </a:r>
          </a:p>
        </p:txBody>
      </p:sp>
      <p:sp>
        <p:nvSpPr>
          <p:cNvPr id="29" name="028 文字 O"/>
          <p:cNvSpPr txBox="1"/>
          <p:nvPr/>
        </p:nvSpPr>
        <p:spPr>
          <a:xfrm>
            <a:off x="1229868" y="5637053"/>
            <a:ext cx="9577197" cy="28612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453" b="0" baseline="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O</a:t>
            </a:r>
          </a:p>
        </p:txBody>
      </p:sp>
      <p:sp>
        <p:nvSpPr>
          <p:cNvPr id="30" name="029 文字 P"/>
          <p:cNvSpPr txBox="1"/>
          <p:nvPr/>
        </p:nvSpPr>
        <p:spPr>
          <a:xfrm>
            <a:off x="3955352" y="4551203"/>
            <a:ext cx="6851713" cy="28612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453" b="0" baseline="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P</a:t>
            </a:r>
          </a:p>
        </p:txBody>
      </p:sp>
      <p:sp>
        <p:nvSpPr>
          <p:cNvPr id="31" name="030 文字 初めの進行方向"/>
          <p:cNvSpPr txBox="1"/>
          <p:nvPr/>
        </p:nvSpPr>
        <p:spPr>
          <a:xfrm>
            <a:off x="1913953" y="5722401"/>
            <a:ext cx="8893112" cy="2524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282" b="0" baseline="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初めの進行方向</a:t>
            </a:r>
          </a:p>
        </p:txBody>
      </p:sp>
      <p:sp>
        <p:nvSpPr>
          <p:cNvPr id="32" name="031 文字 進んだ後の"/>
          <p:cNvSpPr txBox="1"/>
          <p:nvPr/>
        </p:nvSpPr>
        <p:spPr>
          <a:xfrm>
            <a:off x="4867466" y="3181512"/>
            <a:ext cx="5939600" cy="2524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282" b="0" baseline="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進んだ後の</a:t>
            </a:r>
          </a:p>
        </p:txBody>
      </p:sp>
      <p:sp>
        <p:nvSpPr>
          <p:cNvPr id="33" name="032 文字 進行方向"/>
          <p:cNvSpPr txBox="1"/>
          <p:nvPr/>
        </p:nvSpPr>
        <p:spPr>
          <a:xfrm>
            <a:off x="4867466" y="3420399"/>
            <a:ext cx="5939600" cy="2524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282" b="0" baseline="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進行方向</a:t>
            </a:r>
          </a:p>
        </p:txBody>
      </p:sp>
      <p:sp>
        <p:nvSpPr>
          <p:cNvPr id="34" name="033 文字 初めの向きと平行"/>
          <p:cNvSpPr txBox="1"/>
          <p:nvPr/>
        </p:nvSpPr>
        <p:spPr>
          <a:xfrm>
            <a:off x="4346258" y="4636551"/>
            <a:ext cx="6460808" cy="2524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282" b="0" baseline="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初めの向きと平行</a:t>
            </a:r>
          </a:p>
        </p:txBody>
      </p:sp>
      <p:sp>
        <p:nvSpPr>
          <p:cNvPr id="35" name="034 文字 青：半径　緑：円弧　橙：接線と角度"/>
          <p:cNvSpPr txBox="1"/>
          <p:nvPr/>
        </p:nvSpPr>
        <p:spPr>
          <a:xfrm>
            <a:off x="578358" y="6091590"/>
            <a:ext cx="10228707" cy="2524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282" b="0" baseline="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青：半径　緑：円弧　橙：接線と角度</a:t>
            </a:r>
          </a:p>
        </p:txBody>
      </p:sp>
      <p:sp>
        <p:nvSpPr>
          <p:cNvPr id="36" name="035 文字 半径と接線は常に直交"/>
          <p:cNvSpPr txBox="1"/>
          <p:nvPr/>
        </p:nvSpPr>
        <p:spPr>
          <a:xfrm>
            <a:off x="6735128" y="2337589"/>
            <a:ext cx="4071938" cy="31978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624" b="1" baseline="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半径と接線は常に直交</a:t>
            </a:r>
          </a:p>
        </p:txBody>
      </p:sp>
      <p:sp>
        <p:nvSpPr>
          <p:cNvPr id="37" name="036 文字 中心角の変化 ＝ 進行方向の変化"/>
          <p:cNvSpPr txBox="1"/>
          <p:nvPr/>
        </p:nvSpPr>
        <p:spPr>
          <a:xfrm>
            <a:off x="6735128" y="2705258"/>
            <a:ext cx="4071938" cy="28612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453" b="0" baseline="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中心角の変化 ＝ 進行方向の変化</a:t>
            </a:r>
          </a:p>
        </p:txBody>
      </p:sp>
      <p:sp>
        <p:nvSpPr>
          <p:cNvPr id="38" name="037 文字 どちらも Δθ"/>
          <p:cNvSpPr txBox="1"/>
          <p:nvPr/>
        </p:nvSpPr>
        <p:spPr>
          <a:xfrm>
            <a:off x="6735128" y="3056531"/>
            <a:ext cx="4071938" cy="3702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881" b="0" baseline="0" dirty="0">
                <a:solidFill>
                  <a:srgbClr val="B45309"/>
                </a:solidFill>
                <a:latin typeface="Arial"/>
                <a:ea typeface="Yu Gothic"/>
                <a:cs typeface="Arial"/>
              </a:rPr>
              <a:t>どちらも Δθ</a:t>
            </a:r>
          </a:p>
        </p:txBody>
      </p:sp>
      <p:sp>
        <p:nvSpPr>
          <p:cNvPr id="39" name="038 経路・補助線"/>
          <p:cNvSpPr/>
          <p:nvPr/>
        </p:nvSpPr>
        <p:spPr>
          <a:xfrm>
            <a:off x="6735128" y="3550158"/>
            <a:ext cx="3615880" cy="1"/>
          </a:xfrm>
          <a:custGeom>
            <a:avLst/>
            <a:gdLst/>
            <a:ahLst/>
            <a:cxnLst/>
            <a:rect l="l" t="t" r="r" b="b"/>
            <a:pathLst>
              <a:path w="3615880" h="1" extrusionOk="0">
                <a:moveTo>
                  <a:pt x="0" y="0"/>
                </a:moveTo>
                <a:lnTo>
                  <a:pt x="3615880" y="0"/>
                </a:lnTo>
              </a:path>
            </a:pathLst>
          </a:custGeom>
          <a:solidFill>
            <a:srgbClr val="000000"/>
          </a:solidFill>
          <a:ln w="10858" cap="flat">
            <a:solidFill>
              <a:srgbClr val="E2E8F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039 文字 弧長と中心角の関係"/>
          <p:cNvSpPr txBox="1"/>
          <p:nvPr/>
        </p:nvSpPr>
        <p:spPr>
          <a:xfrm>
            <a:off x="6735128" y="3727477"/>
            <a:ext cx="4071938" cy="31978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624" b="1" baseline="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弧長と中心角の関係</a:t>
            </a:r>
          </a:p>
        </p:txBody>
      </p:sp>
      <p:sp>
        <p:nvSpPr>
          <p:cNvPr id="41" name="040 文字 Δs = R Δθ"/>
          <p:cNvSpPr txBox="1"/>
          <p:nvPr/>
        </p:nvSpPr>
        <p:spPr>
          <a:xfrm>
            <a:off x="6735128" y="4070172"/>
            <a:ext cx="4071938" cy="45442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2308" b="0" baseline="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Δs = R Δθ</a:t>
            </a:r>
          </a:p>
        </p:txBody>
      </p:sp>
      <p:sp>
        <p:nvSpPr>
          <p:cNvPr id="42" name="041 文字 曲率 ＝ 向きの変化 / 進んだ距離"/>
          <p:cNvSpPr txBox="1"/>
          <p:nvPr/>
        </p:nvSpPr>
        <p:spPr>
          <a:xfrm>
            <a:off x="6735128" y="4757515"/>
            <a:ext cx="4071938" cy="28612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453" b="0" baseline="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曲率 ＝ 向きの変化 / 進んだ距離</a:t>
            </a:r>
          </a:p>
        </p:txBody>
      </p:sp>
      <p:sp>
        <p:nvSpPr>
          <p:cNvPr id="43" name="042 文字 κ = Δθ / Δs = 1 / R"/>
          <p:cNvSpPr txBox="1"/>
          <p:nvPr/>
        </p:nvSpPr>
        <p:spPr>
          <a:xfrm>
            <a:off x="6735128" y="5101729"/>
            <a:ext cx="4071938" cy="45442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2308" b="0" baseline="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κ = Δθ / Δs = 1 / R</a:t>
            </a:r>
          </a:p>
        </p:txBody>
      </p:sp>
      <p:sp>
        <p:nvSpPr>
          <p:cNvPr id="44" name="043 文字 Δθ は rad、Δs と R は m"/>
          <p:cNvSpPr txBox="1"/>
          <p:nvPr/>
        </p:nvSpPr>
        <p:spPr>
          <a:xfrm>
            <a:off x="6735128" y="5776693"/>
            <a:ext cx="4071938" cy="2524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282" b="0" baseline="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Δθ は rad、Δs と R は m</a:t>
            </a:r>
          </a:p>
        </p:txBody>
      </p:sp>
      <p:sp>
        <p:nvSpPr>
          <p:cNvPr id="45" name="044 説明枠"/>
          <p:cNvSpPr/>
          <p:nvPr/>
        </p:nvSpPr>
        <p:spPr>
          <a:xfrm>
            <a:off x="578358" y="6471094"/>
            <a:ext cx="9816084" cy="423481"/>
          </a:xfrm>
          <a:prstGeom prst="roundRect">
            <a:avLst>
              <a:gd name="adj" fmla="val 15384"/>
            </a:avLst>
          </a:prstGeom>
          <a:solidFill>
            <a:srgbClr val="F1F5F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045 文字 PP の半径 R = (x2 + y2) / (2y) を代入すると、κ ="/>
          <p:cNvSpPr txBox="1"/>
          <p:nvPr/>
        </p:nvSpPr>
        <p:spPr>
          <a:xfrm>
            <a:off x="784670" y="6561546"/>
            <a:ext cx="10022395" cy="31978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624" b="0" baseline="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PP の半径 R = (x</a:t>
            </a:r>
            <a:r>
              <a:rPr lang="ja-JP" sz="1624" b="0" baseline="3000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2</a:t>
            </a:r>
            <a:r>
              <a:rPr lang="ja-JP" sz="1624" b="0" baseline="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 + y</a:t>
            </a:r>
            <a:r>
              <a:rPr lang="ja-JP" sz="1624" b="0" baseline="3000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2</a:t>
            </a:r>
            <a:r>
              <a:rPr lang="ja-JP" sz="1624" b="0" baseline="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) / (2y) を代入すると、κ = 2y / (x</a:t>
            </a:r>
            <a:r>
              <a:rPr lang="ja-JP" sz="1624" b="0" baseline="3000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2</a:t>
            </a:r>
            <a:r>
              <a:rPr lang="ja-JP" sz="1624" b="0" baseline="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 + y</a:t>
            </a:r>
            <a:r>
              <a:rPr lang="ja-JP" sz="1624" b="0" baseline="3000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2</a:t>
            </a:r>
            <a:r>
              <a:rPr lang="ja-JP" sz="1624" b="0" baseline="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p_steering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白背景" descr="スライド全面の白背景"/>
          <p:cNvSpPr/>
          <p:nvPr/>
        </p:nvSpPr>
        <p:spPr>
          <a:xfrm>
            <a:off x="0" y="0"/>
            <a:ext cx="10972800" cy="822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/>
          <a:lstStyle/>
          <a:p>
            <a:endParaRPr lang="ja-JP" altLang="en-US"/>
          </a:p>
        </p:txBody>
      </p:sp>
      <p:sp>
        <p:nvSpPr>
          <p:cNvPr id="2" name="001 文字 同じ旋回中心 C を使う二輪モデル"/>
          <p:cNvSpPr txBox="1"/>
          <p:nvPr/>
        </p:nvSpPr>
        <p:spPr>
          <a:xfrm>
            <a:off x="2113457" y="498070"/>
            <a:ext cx="7547378" cy="51763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2629" b="1" baseline="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同じ旋回中心 C を使う二輪モデル</a:t>
            </a:r>
          </a:p>
        </p:txBody>
      </p:sp>
      <p:sp>
        <p:nvSpPr>
          <p:cNvPr id="3" name="002 文字 右：車体前方 x ／ 上：車体左方 y"/>
          <p:cNvSpPr txBox="1"/>
          <p:nvPr/>
        </p:nvSpPr>
        <p:spPr>
          <a:xfrm>
            <a:off x="2113457" y="993158"/>
            <a:ext cx="7547378" cy="38822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972" b="0" baseline="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右：車体前方 x ／ 上：車体左方 y</a:t>
            </a:r>
          </a:p>
        </p:txBody>
      </p:sp>
      <p:sp>
        <p:nvSpPr>
          <p:cNvPr id="4" name="003 経路・補助線"/>
          <p:cNvSpPr/>
          <p:nvPr/>
        </p:nvSpPr>
        <p:spPr>
          <a:xfrm>
            <a:off x="3148717" y="1443162"/>
            <a:ext cx="1" cy="5042717"/>
          </a:xfrm>
          <a:custGeom>
            <a:avLst/>
            <a:gdLst/>
            <a:ahLst/>
            <a:cxnLst/>
            <a:rect l="l" t="t" r="r" b="b"/>
            <a:pathLst>
              <a:path w="1" h="5042717" fill="none" extrusionOk="0">
                <a:moveTo>
                  <a:pt x="0" y="5042717"/>
                </a:moveTo>
                <a:lnTo>
                  <a:pt x="0" y="0"/>
                </a:lnTo>
              </a:path>
            </a:pathLst>
          </a:custGeom>
          <a:noFill/>
          <a:ln w="25047" cap="flat">
            <a:solidFill>
              <a:srgbClr val="64748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004 矢印先端"/>
          <p:cNvSpPr/>
          <p:nvPr/>
        </p:nvSpPr>
        <p:spPr>
          <a:xfrm>
            <a:off x="3073577" y="1428134"/>
            <a:ext cx="150280" cy="150280"/>
          </a:xfrm>
          <a:custGeom>
            <a:avLst/>
            <a:gdLst/>
            <a:ahLst/>
            <a:cxnLst/>
            <a:rect l="l" t="t" r="r" b="b"/>
            <a:pathLst>
              <a:path w="150280" h="150280" stroke="0" extrusionOk="0">
                <a:moveTo>
                  <a:pt x="0" y="150280"/>
                </a:moveTo>
                <a:lnTo>
                  <a:pt x="75140" y="0"/>
                </a:lnTo>
                <a:lnTo>
                  <a:pt x="150280" y="150280"/>
                </a:lnTo>
                <a:close/>
              </a:path>
            </a:pathLst>
          </a:custGeom>
          <a:solidFill>
            <a:srgbClr val="47556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005 経路・補助線"/>
          <p:cNvSpPr/>
          <p:nvPr/>
        </p:nvSpPr>
        <p:spPr>
          <a:xfrm>
            <a:off x="2614389" y="5951551"/>
            <a:ext cx="6044582" cy="1"/>
          </a:xfrm>
          <a:custGeom>
            <a:avLst/>
            <a:gdLst/>
            <a:ahLst/>
            <a:cxnLst/>
            <a:rect l="l" t="t" r="r" b="b"/>
            <a:pathLst>
              <a:path w="6044582" h="1" fill="none" extrusionOk="0">
                <a:moveTo>
                  <a:pt x="0" y="0"/>
                </a:moveTo>
                <a:lnTo>
                  <a:pt x="6044582" y="0"/>
                </a:lnTo>
              </a:path>
            </a:pathLst>
          </a:custGeom>
          <a:noFill/>
          <a:ln w="25047" cap="flat">
            <a:solidFill>
              <a:srgbClr val="64748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006 矢印先端"/>
          <p:cNvSpPr/>
          <p:nvPr/>
        </p:nvSpPr>
        <p:spPr>
          <a:xfrm>
            <a:off x="8523719" y="5876411"/>
            <a:ext cx="150280" cy="150280"/>
          </a:xfrm>
          <a:custGeom>
            <a:avLst/>
            <a:gdLst/>
            <a:ahLst/>
            <a:cxnLst/>
            <a:rect l="l" t="t" r="r" b="b"/>
            <a:pathLst>
              <a:path w="150280" h="150280" stroke="0" extrusionOk="0">
                <a:moveTo>
                  <a:pt x="0" y="0"/>
                </a:moveTo>
                <a:lnTo>
                  <a:pt x="150280" y="75140"/>
                </a:lnTo>
                <a:lnTo>
                  <a:pt x="0" y="150280"/>
                </a:lnTo>
                <a:close/>
              </a:path>
            </a:pathLst>
          </a:custGeom>
          <a:solidFill>
            <a:srgbClr val="47556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007 文字 y"/>
          <p:cNvSpPr txBox="1"/>
          <p:nvPr/>
        </p:nvSpPr>
        <p:spPr>
          <a:xfrm>
            <a:off x="2714575" y="1346148"/>
            <a:ext cx="6946259" cy="43998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2235" b="0" baseline="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y</a:t>
            </a:r>
          </a:p>
        </p:txBody>
      </p:sp>
      <p:sp>
        <p:nvSpPr>
          <p:cNvPr id="9" name="008 文字 x"/>
          <p:cNvSpPr txBox="1"/>
          <p:nvPr/>
        </p:nvSpPr>
        <p:spPr>
          <a:xfrm>
            <a:off x="8491993" y="6105004"/>
            <a:ext cx="2003729" cy="43998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2235" b="0" baseline="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x</a:t>
            </a:r>
          </a:p>
        </p:txBody>
      </p:sp>
      <p:sp>
        <p:nvSpPr>
          <p:cNvPr id="10" name="009 経路・補助線"/>
          <p:cNvSpPr/>
          <p:nvPr/>
        </p:nvSpPr>
        <p:spPr>
          <a:xfrm>
            <a:off x="3148717" y="1777117"/>
            <a:ext cx="2504661" cy="4174435"/>
          </a:xfrm>
          <a:custGeom>
            <a:avLst/>
            <a:gdLst/>
            <a:ahLst/>
            <a:cxnLst/>
            <a:rect l="l" t="t" r="r" b="b"/>
            <a:pathLst>
              <a:path w="2504661" h="4174435" fill="none" extrusionOk="0">
                <a:moveTo>
                  <a:pt x="0" y="4174435"/>
                </a:moveTo>
                <a:lnTo>
                  <a:pt x="0" y="0"/>
                </a:lnTo>
                <a:lnTo>
                  <a:pt x="2504661" y="4174435"/>
                </a:lnTo>
              </a:path>
            </a:pathLst>
          </a:custGeom>
          <a:noFill/>
          <a:ln w="33395" cap="flat">
            <a:solidFill>
              <a:srgbClr val="2563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010 経路・補助線"/>
          <p:cNvSpPr/>
          <p:nvPr/>
        </p:nvSpPr>
        <p:spPr>
          <a:xfrm>
            <a:off x="3148717" y="5751178"/>
            <a:ext cx="200373" cy="200373"/>
          </a:xfrm>
          <a:custGeom>
            <a:avLst/>
            <a:gdLst/>
            <a:ahLst/>
            <a:cxnLst/>
            <a:rect l="l" t="t" r="r" b="b"/>
            <a:pathLst>
              <a:path w="200373" h="200373" fill="none" extrusionOk="0">
                <a:moveTo>
                  <a:pt x="0" y="0"/>
                </a:moveTo>
                <a:lnTo>
                  <a:pt x="200373" y="0"/>
                </a:lnTo>
                <a:lnTo>
                  <a:pt x="200373" y="200373"/>
                </a:lnTo>
              </a:path>
            </a:pathLst>
          </a:custGeom>
          <a:noFill/>
          <a:ln w="25047" cap="flat">
            <a:solidFill>
              <a:srgbClr val="64748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011 経路・補助線"/>
          <p:cNvSpPr/>
          <p:nvPr/>
        </p:nvSpPr>
        <p:spPr>
          <a:xfrm>
            <a:off x="3148717" y="5951551"/>
            <a:ext cx="2504661" cy="1"/>
          </a:xfrm>
          <a:custGeom>
            <a:avLst/>
            <a:gdLst/>
            <a:ahLst/>
            <a:cxnLst/>
            <a:rect l="l" t="t" r="r" b="b"/>
            <a:pathLst>
              <a:path w="2504661" h="1" extrusionOk="0">
                <a:moveTo>
                  <a:pt x="0" y="0"/>
                </a:moveTo>
                <a:lnTo>
                  <a:pt x="2504661" y="0"/>
                </a:lnTo>
              </a:path>
            </a:pathLst>
          </a:custGeom>
          <a:solidFill>
            <a:srgbClr val="000000"/>
          </a:solidFill>
          <a:ln w="66791" cap="flat">
            <a:solidFill>
              <a:srgbClr val="47556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012 経路・補助線"/>
          <p:cNvSpPr/>
          <p:nvPr/>
        </p:nvSpPr>
        <p:spPr>
          <a:xfrm>
            <a:off x="2814762" y="5951551"/>
            <a:ext cx="667910" cy="1"/>
          </a:xfrm>
          <a:custGeom>
            <a:avLst/>
            <a:gdLst/>
            <a:ahLst/>
            <a:cxnLst/>
            <a:rect l="l" t="t" r="r" b="b"/>
            <a:pathLst>
              <a:path w="667910" h="1" extrusionOk="0">
                <a:moveTo>
                  <a:pt x="0" y="0"/>
                </a:moveTo>
                <a:lnTo>
                  <a:pt x="667910" y="0"/>
                </a:lnTo>
              </a:path>
            </a:pathLst>
          </a:custGeom>
          <a:solidFill>
            <a:srgbClr val="000000"/>
          </a:solidFill>
          <a:ln w="133582" cap="rnd">
            <a:solidFill>
              <a:srgbClr val="172B4D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013 経路・補助線"/>
          <p:cNvSpPr/>
          <p:nvPr/>
        </p:nvSpPr>
        <p:spPr>
          <a:xfrm>
            <a:off x="5295378" y="5736818"/>
            <a:ext cx="715999" cy="429466"/>
          </a:xfrm>
          <a:custGeom>
            <a:avLst/>
            <a:gdLst/>
            <a:ahLst/>
            <a:cxnLst/>
            <a:rect l="l" t="t" r="r" b="b"/>
            <a:pathLst>
              <a:path w="715999" h="429466" extrusionOk="0">
                <a:moveTo>
                  <a:pt x="0" y="429466"/>
                </a:moveTo>
                <a:lnTo>
                  <a:pt x="715999" y="0"/>
                </a:lnTo>
              </a:path>
            </a:pathLst>
          </a:custGeom>
          <a:solidFill>
            <a:srgbClr val="000000"/>
          </a:solidFill>
          <a:ln w="133582" cap="rnd">
            <a:solidFill>
              <a:srgbClr val="172B4D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014 経路・補助線"/>
          <p:cNvSpPr/>
          <p:nvPr/>
        </p:nvSpPr>
        <p:spPr>
          <a:xfrm>
            <a:off x="5997017" y="4963546"/>
            <a:ext cx="1302925" cy="781788"/>
          </a:xfrm>
          <a:custGeom>
            <a:avLst/>
            <a:gdLst/>
            <a:ahLst/>
            <a:cxnLst/>
            <a:rect l="l" t="t" r="r" b="b"/>
            <a:pathLst>
              <a:path w="1302925" h="781788" fill="none" extrusionOk="0">
                <a:moveTo>
                  <a:pt x="0" y="781788"/>
                </a:moveTo>
                <a:lnTo>
                  <a:pt x="1302925" y="0"/>
                </a:lnTo>
              </a:path>
            </a:pathLst>
          </a:custGeom>
          <a:noFill/>
          <a:ln w="41744" cap="flat">
            <a:solidFill>
              <a:srgbClr val="B4530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015 矢印先端"/>
          <p:cNvSpPr/>
          <p:nvPr/>
        </p:nvSpPr>
        <p:spPr>
          <a:xfrm>
            <a:off x="7042214" y="4950659"/>
            <a:ext cx="279204" cy="236253"/>
          </a:xfrm>
          <a:custGeom>
            <a:avLst/>
            <a:gdLst/>
            <a:ahLst/>
            <a:cxnLst/>
            <a:rect l="l" t="t" r="r" b="b"/>
            <a:pathLst>
              <a:path w="279204" h="236253" stroke="0" extrusionOk="0">
                <a:moveTo>
                  <a:pt x="0" y="21483"/>
                </a:moveTo>
                <a:lnTo>
                  <a:pt x="279204" y="0"/>
                </a:lnTo>
                <a:lnTo>
                  <a:pt x="128868" y="236253"/>
                </a:lnTo>
                <a:close/>
              </a:path>
            </a:pathLst>
          </a:cu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016 経路・補助線"/>
          <p:cNvSpPr/>
          <p:nvPr/>
        </p:nvSpPr>
        <p:spPr>
          <a:xfrm>
            <a:off x="6269023" y="5582197"/>
            <a:ext cx="102357" cy="369354"/>
          </a:xfrm>
          <a:custGeom>
            <a:avLst/>
            <a:gdLst/>
            <a:ahLst/>
            <a:cxnLst/>
            <a:rect l="l" t="t" r="r" b="b"/>
            <a:pathLst>
              <a:path w="102357" h="369354" fill="none" extrusionOk="0">
                <a:moveTo>
                  <a:pt x="102357" y="369354"/>
                </a:moveTo>
                <a:cubicBezTo>
                  <a:pt x="102347" y="304593"/>
                  <a:pt x="93574" y="240130"/>
                  <a:pt x="76279" y="177721"/>
                </a:cubicBezTo>
                <a:cubicBezTo>
                  <a:pt x="58984" y="115312"/>
                  <a:pt x="33325" y="55529"/>
                  <a:pt x="0" y="0"/>
                </a:cubicBezTo>
              </a:path>
            </a:pathLst>
          </a:custGeom>
          <a:noFill/>
          <a:ln w="33395" cap="flat">
            <a:solidFill>
              <a:srgbClr val="B4530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017 経路・補助線"/>
          <p:cNvSpPr/>
          <p:nvPr/>
        </p:nvSpPr>
        <p:spPr>
          <a:xfrm>
            <a:off x="5550352" y="5676707"/>
            <a:ext cx="274845" cy="171820"/>
          </a:xfrm>
          <a:custGeom>
            <a:avLst/>
            <a:gdLst/>
            <a:ahLst/>
            <a:cxnLst/>
            <a:rect l="l" t="t" r="r" b="b"/>
            <a:pathLst>
              <a:path w="274845" h="171820" fill="none" extrusionOk="0">
                <a:moveTo>
                  <a:pt x="0" y="103025"/>
                </a:moveTo>
                <a:lnTo>
                  <a:pt x="171820" y="0"/>
                </a:lnTo>
                <a:lnTo>
                  <a:pt x="274845" y="171820"/>
                </a:lnTo>
              </a:path>
            </a:pathLst>
          </a:custGeom>
          <a:noFill/>
          <a:ln w="25047" cap="flat">
            <a:solidFill>
              <a:srgbClr val="B4530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018 点"/>
          <p:cNvSpPr/>
          <p:nvPr/>
        </p:nvSpPr>
        <p:spPr>
          <a:xfrm>
            <a:off x="3073577" y="1701977"/>
            <a:ext cx="150280" cy="150280"/>
          </a:xfrm>
          <a:prstGeom prst="ellipse">
            <a:avLst/>
          </a:prstGeom>
          <a:solidFill>
            <a:srgbClr val="172B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019 文字 C = (0, R)"/>
          <p:cNvSpPr txBox="1"/>
          <p:nvPr/>
        </p:nvSpPr>
        <p:spPr>
          <a:xfrm>
            <a:off x="3432578" y="1429637"/>
            <a:ext cx="6228257" cy="43998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2235" b="0" baseline="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C = (0, R)</a:t>
            </a:r>
          </a:p>
        </p:txBody>
      </p:sp>
      <p:sp>
        <p:nvSpPr>
          <p:cNvPr id="21" name="020 文字 O（後輪）"/>
          <p:cNvSpPr txBox="1"/>
          <p:nvPr/>
        </p:nvSpPr>
        <p:spPr>
          <a:xfrm>
            <a:off x="2848157" y="6140905"/>
            <a:ext cx="1402610" cy="43998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2235" b="0" baseline="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O（後輪）</a:t>
            </a:r>
          </a:p>
        </p:txBody>
      </p:sp>
      <p:sp>
        <p:nvSpPr>
          <p:cNvPr id="22" name="021 文字 F（前輪）"/>
          <p:cNvSpPr txBox="1"/>
          <p:nvPr/>
        </p:nvSpPr>
        <p:spPr>
          <a:xfrm>
            <a:off x="5375192" y="6171794"/>
            <a:ext cx="1272369" cy="43998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2235" b="0" baseline="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F（前輪）</a:t>
            </a:r>
          </a:p>
        </p:txBody>
      </p:sp>
      <p:sp>
        <p:nvSpPr>
          <p:cNvPr id="23" name="022 文字 車体"/>
          <p:cNvSpPr txBox="1"/>
          <p:nvPr/>
        </p:nvSpPr>
        <p:spPr>
          <a:xfrm>
            <a:off x="4050394" y="5236721"/>
            <a:ext cx="5610440" cy="43998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2235" b="0" baseline="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車体</a:t>
            </a:r>
          </a:p>
        </p:txBody>
      </p:sp>
      <p:sp>
        <p:nvSpPr>
          <p:cNvPr id="24" name="023 文字 R"/>
          <p:cNvSpPr txBox="1"/>
          <p:nvPr/>
        </p:nvSpPr>
        <p:spPr>
          <a:xfrm>
            <a:off x="2714575" y="3550249"/>
            <a:ext cx="6946259" cy="43998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2235" b="0" baseline="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R</a:t>
            </a:r>
          </a:p>
        </p:txBody>
      </p:sp>
      <p:sp>
        <p:nvSpPr>
          <p:cNvPr id="25" name="024 文字 δ"/>
          <p:cNvSpPr txBox="1"/>
          <p:nvPr/>
        </p:nvSpPr>
        <p:spPr>
          <a:xfrm>
            <a:off x="6605149" y="5408374"/>
            <a:ext cx="3055686" cy="5435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2761" b="0" baseline="0" dirty="0">
                <a:solidFill>
                  <a:srgbClr val="B45309"/>
                </a:solidFill>
                <a:latin typeface="Arial"/>
                <a:ea typeface="Yu Gothic"/>
                <a:cs typeface="Arial"/>
              </a:rPr>
              <a:t>δ</a:t>
            </a:r>
          </a:p>
        </p:txBody>
      </p:sp>
      <p:sp>
        <p:nvSpPr>
          <p:cNvPr id="26" name="025 文字 前輪の向き"/>
          <p:cNvSpPr txBox="1"/>
          <p:nvPr/>
        </p:nvSpPr>
        <p:spPr>
          <a:xfrm>
            <a:off x="6705335" y="4399496"/>
            <a:ext cx="2955500" cy="38822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972" b="0" baseline="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前輪の向き</a:t>
            </a:r>
          </a:p>
        </p:txBody>
      </p:sp>
      <p:sp>
        <p:nvSpPr>
          <p:cNvPr id="27" name="026 経路・補助線"/>
          <p:cNvSpPr/>
          <p:nvPr/>
        </p:nvSpPr>
        <p:spPr>
          <a:xfrm>
            <a:off x="3148717" y="6803136"/>
            <a:ext cx="2504661" cy="1"/>
          </a:xfrm>
          <a:custGeom>
            <a:avLst/>
            <a:gdLst/>
            <a:ahLst/>
            <a:cxnLst/>
            <a:rect l="l" t="t" r="r" b="b"/>
            <a:pathLst>
              <a:path w="2504661" h="1" fill="none" extrusionOk="0">
                <a:moveTo>
                  <a:pt x="0" y="0"/>
                </a:moveTo>
                <a:lnTo>
                  <a:pt x="2504661" y="0"/>
                </a:lnTo>
              </a:path>
            </a:pathLst>
          </a:custGeom>
          <a:noFill/>
          <a:ln w="21707" cap="flat">
            <a:solidFill>
              <a:srgbClr val="47556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027 矢印先端"/>
          <p:cNvSpPr/>
          <p:nvPr/>
        </p:nvSpPr>
        <p:spPr>
          <a:xfrm>
            <a:off x="3135692" y="6738015"/>
            <a:ext cx="130242" cy="130242"/>
          </a:xfrm>
          <a:custGeom>
            <a:avLst/>
            <a:gdLst/>
            <a:ahLst/>
            <a:cxnLst/>
            <a:rect l="l" t="t" r="r" b="b"/>
            <a:pathLst>
              <a:path w="130242" h="130242" stroke="0" extrusionOk="0">
                <a:moveTo>
                  <a:pt x="130242" y="130242"/>
                </a:moveTo>
                <a:lnTo>
                  <a:pt x="0" y="65121"/>
                </a:lnTo>
                <a:lnTo>
                  <a:pt x="130242" y="0"/>
                </a:lnTo>
                <a:close/>
              </a:path>
            </a:pathLst>
          </a:custGeom>
          <a:solidFill>
            <a:srgbClr val="47556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028 矢印先端"/>
          <p:cNvSpPr/>
          <p:nvPr/>
        </p:nvSpPr>
        <p:spPr>
          <a:xfrm>
            <a:off x="5536159" y="6738015"/>
            <a:ext cx="130242" cy="130242"/>
          </a:xfrm>
          <a:custGeom>
            <a:avLst/>
            <a:gdLst/>
            <a:ahLst/>
            <a:cxnLst/>
            <a:rect l="l" t="t" r="r" b="b"/>
            <a:pathLst>
              <a:path w="130242" h="130242" stroke="0" extrusionOk="0">
                <a:moveTo>
                  <a:pt x="0" y="0"/>
                </a:moveTo>
                <a:lnTo>
                  <a:pt x="130242" y="65121"/>
                </a:lnTo>
                <a:lnTo>
                  <a:pt x="0" y="130242"/>
                </a:lnTo>
                <a:close/>
              </a:path>
            </a:pathLst>
          </a:custGeom>
          <a:solidFill>
            <a:srgbClr val="47556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029 文字 Lw"/>
          <p:cNvSpPr txBox="1"/>
          <p:nvPr/>
        </p:nvSpPr>
        <p:spPr>
          <a:xfrm>
            <a:off x="4250767" y="6906495"/>
            <a:ext cx="5410067" cy="43998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2235" b="0" baseline="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L</a:t>
            </a:r>
            <a:r>
              <a:rPr lang="ja-JP" sz="2235" b="0" baseline="-2500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w</a:t>
            </a:r>
          </a:p>
        </p:txBody>
      </p:sp>
      <p:sp>
        <p:nvSpPr>
          <p:cNvPr id="31" name="030 文字 前輪方向と CF は直角"/>
          <p:cNvSpPr txBox="1"/>
          <p:nvPr/>
        </p:nvSpPr>
        <p:spPr>
          <a:xfrm>
            <a:off x="6054123" y="6904157"/>
            <a:ext cx="3606712" cy="38822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972" b="0" baseline="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前輪方向と CF は直角</a:t>
            </a:r>
          </a:p>
        </p:txBody>
      </p:sp>
      <p:sp>
        <p:nvSpPr>
          <p:cNvPr id="32" name="031 文字 前輪と後輪の旋回中心は同じ。円の半径は異なる。"/>
          <p:cNvSpPr txBox="1"/>
          <p:nvPr/>
        </p:nvSpPr>
        <p:spPr>
          <a:xfrm>
            <a:off x="2113457" y="7421787"/>
            <a:ext cx="7547378" cy="38822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972" b="0" baseline="0" dirty="0">
                <a:solidFill>
                  <a:srgbClr val="172B4D"/>
                </a:solidFill>
                <a:latin typeface="Arial"/>
                <a:ea typeface="Yu Gothic"/>
                <a:cs typeface="Arial"/>
              </a:rPr>
              <a:t>前輪と後輪の旋回中心は同じ。円の半径は異なる。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968</Words>
  <Application>Microsoft Office PowerPoint</Application>
  <PresentationFormat>B4 (JIS) 257x364 mm</PresentationFormat>
  <Paragraphs>171</Paragraphs>
  <Slides>7</Slides>
  <Notes>7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Lookahead / Pure Pursuit — 編集可能な図</dc:title>
  <dc:subject>SVG 図版を編集可能な PowerPoint 図形とテキストに変換</dc:subject>
  <dc:creator/>
  <cp:keywords>lookahead, pure pursuit, editable diagrams</cp:keywords>
  <dc:description>generated using python-pptx</dc:description>
  <cp:lastModifiedBy>CT 梶</cp:lastModifiedBy>
  <cp:revision>5</cp:revision>
  <dcterms:created xsi:type="dcterms:W3CDTF">2013-01-27T09:14:16Z</dcterms:created>
  <dcterms:modified xsi:type="dcterms:W3CDTF">2026-09-14T04:27:03Z</dcterms:modified>
  <cp:category/>
</cp:coreProperties>
</file>